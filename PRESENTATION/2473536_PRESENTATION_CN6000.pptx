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99" r:id="rId5"/>
    <p:sldId id="397" r:id="rId6"/>
    <p:sldId id="380" r:id="rId7"/>
    <p:sldId id="391" r:id="rId8"/>
    <p:sldId id="309" r:id="rId9"/>
    <p:sldId id="310" r:id="rId10"/>
    <p:sldId id="393" r:id="rId11"/>
    <p:sldId id="311" r:id="rId12"/>
    <p:sldId id="362" r:id="rId13"/>
    <p:sldId id="348" r:id="rId14"/>
    <p:sldId id="394" r:id="rId15"/>
    <p:sldId id="373" r:id="rId16"/>
    <p:sldId id="376" r:id="rId17"/>
    <p:sldId id="395" r:id="rId18"/>
    <p:sldId id="402" r:id="rId19"/>
    <p:sldId id="400" r:id="rId20"/>
    <p:sldId id="401" r:id="rId21"/>
    <p:sldId id="381" r:id="rId22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7D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22011-2256-5085-2C9F-D921A5C24D2C}" v="64" dt="2025-06-01T11:09:40.599"/>
    <p1510:client id="{460AD64C-6944-D16B-7AF6-9191C4E2D21A}" v="33" dt="2025-05-30T15:27:28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zh-CN" altLang="en-US"/>
          </a:p>
          <a:p>
            <a:pPr lvl="1"/>
            <a:r>
              <a:rPr lang="en-US" altLang="zh-CN"/>
              <a:t>Second</a:t>
            </a:r>
            <a:r>
              <a:rPr lang="zh-CN" altLang="en-US"/>
              <a:t> </a:t>
            </a:r>
            <a:r>
              <a:rPr lang="en-US" altLang="zh-CN"/>
              <a:t>level</a:t>
            </a:r>
            <a:endParaRPr lang="zh-CN" altLang="en-US"/>
          </a:p>
          <a:p>
            <a:pPr lvl="2"/>
            <a:r>
              <a:rPr lang="en-US" altLang="zh-CN"/>
              <a:t>Third</a:t>
            </a:r>
            <a:r>
              <a:rPr lang="zh-CN" altLang="en-US"/>
              <a:t> </a:t>
            </a:r>
            <a:r>
              <a:rPr lang="en-US" altLang="zh-CN"/>
              <a:t>level</a:t>
            </a:r>
            <a:endParaRPr lang="zh-CN" altLang="en-US"/>
          </a:p>
          <a:p>
            <a:pPr lvl="3"/>
            <a:r>
              <a:rPr lang="en-US" altLang="zh-CN"/>
              <a:t>Fourth level</a:t>
            </a:r>
            <a:endParaRPr lang="zh-CN" altLang="en-US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6/1/2025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4D56CB-7729-4F9B-B383-5D5EDD1C4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9821333" y="4558433"/>
            <a:ext cx="2370667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39E53A78-6591-EEDA-1DFD-F106ECC52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21333" y="4558438"/>
            <a:ext cx="2370667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5ADCC5-3878-853E-8614-59CF8B2810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08" y="837382"/>
            <a:ext cx="7837069" cy="3696518"/>
          </a:xfrm>
        </p:spPr>
        <p:txBody>
          <a:bodyPr anchor="t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99E747C-251E-F759-ABCD-CD941BA33A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1208" y="4648199"/>
            <a:ext cx="7837070" cy="891581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031AA0C-A2A7-B56D-9661-B2A56DD37D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1208" y="5730282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8A332-DECC-D8DD-0E19-762C6FFB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EB1C08-1A28-5224-563E-C8AF24A3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529DAF-CFD3-BC3E-C570-099DAEEB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1C113ED2-FAFE-A686-C43C-7C104C28E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1580C5C3-0FF4-BA92-445D-48CC4C54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AB71EF6-F4ED-6CD6-E0C2-EAB75D0F0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3" y="0"/>
            <a:ext cx="2370665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24268F0-A8A4-E399-5FC5-6384B8BD9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35107" y="-1"/>
            <a:ext cx="2356893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AC4EA9-78A7-EDEB-A4B1-0E44AB226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1" y="2456493"/>
            <a:ext cx="2370668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ACCD3CEE-6646-969D-7160-69226A1B7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0444462" y="2810904"/>
            <a:ext cx="1124412" cy="2370664"/>
          </a:xfrm>
          <a:custGeom>
            <a:avLst/>
            <a:gdLst>
              <a:gd name="connsiteX0" fmla="*/ 600765 w 600765"/>
              <a:gd name="connsiteY0" fmla="*/ 0 h 1266628"/>
              <a:gd name="connsiteX1" fmla="*/ 600765 w 600765"/>
              <a:gd name="connsiteY1" fmla="*/ 1266628 h 1266628"/>
              <a:gd name="connsiteX2" fmla="*/ 508593 w 600765"/>
              <a:gd name="connsiteY2" fmla="*/ 1257336 h 1266628"/>
              <a:gd name="connsiteX3" fmla="*/ 0 w 600765"/>
              <a:gd name="connsiteY3" fmla="*/ 633314 h 1266628"/>
              <a:gd name="connsiteX4" fmla="*/ 508593 w 600765"/>
              <a:gd name="connsiteY4" fmla="*/ 9292 h 126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765" h="1266628">
                <a:moveTo>
                  <a:pt x="600765" y="0"/>
                </a:moveTo>
                <a:lnTo>
                  <a:pt x="600765" y="1266628"/>
                </a:lnTo>
                <a:lnTo>
                  <a:pt x="508593" y="1257336"/>
                </a:lnTo>
                <a:cubicBezTo>
                  <a:pt x="218339" y="1197942"/>
                  <a:pt x="0" y="941126"/>
                  <a:pt x="0" y="633314"/>
                </a:cubicBezTo>
                <a:cubicBezTo>
                  <a:pt x="0" y="325502"/>
                  <a:pt x="218339" y="68686"/>
                  <a:pt x="508593" y="92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193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3184A5B9-E2EB-CB8F-9FCE-B435678BB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3696527"/>
            <a:ext cx="2254248" cy="3163005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BEF628E3-8F76-0E9D-3DEE-A459731EF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937750" y="5736197"/>
            <a:ext cx="2254250" cy="1121803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94A9AA8-C219-474F-E074-634356B77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837382"/>
            <a:ext cx="7837069" cy="3696518"/>
          </a:xfrm>
        </p:spPr>
        <p:txBody>
          <a:bodyPr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2979924-61C7-4C37-EAF2-46A0A2A2D1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48199"/>
            <a:ext cx="7837070" cy="10428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946F423E-A433-4DDE-A3C0-3165FE754F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225" y="5883110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24AAE30-F15B-1702-BB62-5EF514C3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3F5C5-ED4D-E322-2AF6-F166C684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3C27666-6814-D528-A7CD-540241E7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75F1C151-830E-3940-1AE4-FB8D2BD62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219F9CAC-9EAC-C1A6-0F7E-3F8E87DFD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173937D-CDC9-73E6-6B3E-2447EC17A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1"/>
            <a:ext cx="2254248" cy="36949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CBC384E9-DFB8-C4B8-FD41-571F33CD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7750" y="-2"/>
            <a:ext cx="2254250" cy="369651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745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id="{B97416E4-EDCD-B6B0-871B-59B523934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reeform: Shape 59">
            <a:extLst>
              <a:ext uri="{FF2B5EF4-FFF2-40B4-BE49-F238E27FC236}">
                <a16:creationId xmlns:a16="http://schemas.microsoft.com/office/drawing/2014/main" id="{E2D01E03-0AE5-38F7-B2E7-A561D2D8E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F6DBF5FB-1D7F-AA76-089E-78475F22B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: Shape 59">
            <a:extLst>
              <a:ext uri="{FF2B5EF4-FFF2-40B4-BE49-F238E27FC236}">
                <a16:creationId xmlns:a16="http://schemas.microsoft.com/office/drawing/2014/main" id="{44A1C6DB-DBF1-64FE-805A-746B1CA7C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7D558E-B648-BBEB-46E0-F39608643F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25650" y="1122363"/>
            <a:ext cx="8140700" cy="23876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764C513-A87E-FCB7-156B-282EBAF019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25650" y="3602038"/>
            <a:ext cx="8140700" cy="88106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D9CC7D7-743B-85D5-5C99-E91249AF7E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981200" y="5793918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A3A1DD-04DE-1541-1FFF-3A707AF5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7C9CB-6FF6-0287-178B-6CADEEB9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84A680-FB9E-E42D-DDAA-5791A07B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B3A19901-5D82-7B65-7782-E6852337B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8F412048-B308-2DFC-686A-6DA382617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EA419E24-8272-CD51-84D8-E7CA5E6F7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Freeform: Shape 9">
            <a:extLst>
              <a:ext uri="{FF2B5EF4-FFF2-40B4-BE49-F238E27FC236}">
                <a16:creationId xmlns:a16="http://schemas.microsoft.com/office/drawing/2014/main" id="{FC750F5C-AF95-4BA8-1FF7-DF14E175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8EB19805-760B-FC22-27FF-2642CF681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16723D4D-CE24-1BFA-381F-67A51CF4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EDD86B10-8265-2F8F-A1C8-E1C52EB8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id="{4EDA9D06-9457-35FD-607C-E7105181A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7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19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9885F5-BCBD-1B93-4BD0-913F4539E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1973" y="3986909"/>
            <a:ext cx="11288052" cy="1331597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044FD8C-6C45-EC5E-5CA3-79C3C87BF8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1973" y="5416550"/>
            <a:ext cx="11288052" cy="61595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99621" y="964"/>
            <a:ext cx="5578791" cy="3888401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E6436228-797E-53A8-A7F9-52AD1B8E0F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1973" y="6087722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4172-860D-1647-047C-C3738A9C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F49D81A-40A1-67EF-AB98-6D6B4700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469B88-8070-4714-51D1-F43A0AFE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A13429-7FDC-7187-2143-8A9EEDD8A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93548" y="-195013"/>
            <a:ext cx="1957956" cy="23479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4876CF-E930-1022-BFB1-831273576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7597" y="3"/>
            <a:ext cx="2351132" cy="117001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63CC7-EA2E-97AB-5E20-B44890F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03865" y="1754093"/>
            <a:ext cx="1940257" cy="2347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A88D6-0F39-DB96-BA62-7586959D1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544101" y="-198088"/>
            <a:ext cx="1954953" cy="23511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3202E-A252-90D1-ED83-5D7FB9C4F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1501" y="1746727"/>
            <a:ext cx="1940259" cy="23510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B2E8D-ECD5-FF51-A5CA-5FB0750DA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4974" y="1743143"/>
            <a:ext cx="1933202" cy="2351131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BE33DCB4-EBE4-F9F4-40E1-A1109F436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53534" y="22400"/>
            <a:ext cx="1960861" cy="191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9D37B0-DB36-8B46-3EE5-848EE070F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65341" y="1968544"/>
            <a:ext cx="1937248" cy="19160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49AE85A-7CA3-CA3E-CAC1-2D64B4689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0263835" y="1970054"/>
            <a:ext cx="1940259" cy="1916066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1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7621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43FFF1-DDFA-80AA-76D1-22BD8FF1A0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32261" y="482261"/>
            <a:ext cx="5828395" cy="3987800"/>
          </a:xfrm>
        </p:spPr>
        <p:txBody>
          <a:bodyPr lIns="0" tIns="0" rIns="0" bIns="0"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507D3A1-9DD8-7489-4AF4-BA29A6CDB4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2260" y="4625351"/>
            <a:ext cx="5828396" cy="89167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64491" y="1339850"/>
            <a:ext cx="3762007" cy="4905375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0F3AF08-58B8-1240-DC7F-D213996B2A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671050" y="5982369"/>
            <a:ext cx="1589606" cy="266701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AC3F6DD-F963-7D20-7D44-A9471028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D3E5DEB-74C0-2DEA-0038-2F004421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FCC32E-F87E-343D-5B5C-6507310C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0E8E679-660F-5B58-91D7-9E0CDF0AB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-3"/>
            <a:ext cx="1360674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587E180-57E3-C8FA-E365-AB365B7F4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7937" y="-5"/>
            <a:ext cx="1352738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2F644D-1D4F-6486-A506-5B5A7BE49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2232018"/>
            <a:ext cx="1360677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Freeform: Shape 9">
            <a:extLst>
              <a:ext uri="{FF2B5EF4-FFF2-40B4-BE49-F238E27FC236}">
                <a16:creationId xmlns:a16="http://schemas.microsoft.com/office/drawing/2014/main" id="{155A9F5C-6C2B-B9A0-9DF2-D4B82FBE6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471537"/>
            <a:ext cx="1360678" cy="677127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6B928C87-B3CE-A38B-38D7-B0948D3E4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-2" y="4148664"/>
            <a:ext cx="1360677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1F867251-402A-C2DE-7D05-B8E48B7E7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4148663"/>
            <a:ext cx="1360678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34332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814480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71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1C19B4F-DFB6-9576-9DF4-96FE43A1EC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0628" y="482261"/>
            <a:ext cx="5824186" cy="3987799"/>
          </a:xfrm>
        </p:spPr>
        <p:txBody>
          <a:bodyPr lIns="0" tIns="0" rIns="0" bIns="0"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99BC2BC-8A72-7BB8-D8C8-CB385D30BB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0628" y="4640704"/>
            <a:ext cx="5824186" cy="87632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EC403ECD-0E61-4F10-7162-E98E5D2C68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10629" y="5978808"/>
            <a:ext cx="1737322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5818" y="1331046"/>
            <a:ext cx="3772303" cy="4914460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742842F-049E-5CE5-521C-3D7CF466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7807E5-619C-C6C7-6226-8A9540B6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73A478-35CD-870F-0A0C-AD044CED3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F5FF0307-7223-2A57-49F7-205DFC3CA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AB33DB86-5F38-0CF7-F613-511E8B1B1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B297F7B8-C42C-1B4A-C596-DA900418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3CDB4C82-C1F2-7A31-B0C0-EC7A16E8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888" y="3428999"/>
            <a:ext cx="1366047" cy="71966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D03B5295-1DAD-F67E-A9D1-1EDDEDAE0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5" y="4148664"/>
            <a:ext cx="1365981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C681F86B-1EB2-1ABD-11BE-7405C317D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65980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55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22365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30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06802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51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50334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87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80042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8202" y="2558836"/>
            <a:ext cx="6735597" cy="2536289"/>
          </a:xfrm>
        </p:spPr>
        <p:txBody>
          <a:bodyPr lIns="0" tIns="0" rIns="0" bIns="0" anchor="t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037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16038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541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40B915B-DDF9-DD98-A561-3684DEE3834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281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202" y="2160856"/>
            <a:ext cx="6735597" cy="2536289"/>
          </a:xfrm>
        </p:spPr>
        <p:txBody>
          <a:bodyPr lIns="0" tIns="0" rIns="0" bIns="0" anchor="ctr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749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78F1E9F-8DC0-3F47-3713-0A6BECA4A2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2963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229F71-3CE4-1A56-A454-B19344890E2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12F71417-AF87-8BCD-86C2-D6D8455F67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3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EF0D168-760E-3567-B5E3-6EB79B152A5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1805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0ECA0-C9A9-7F6F-DDEE-49117E596C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257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B9C6248-FAAF-2686-9707-F8099CFE546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62712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9235EC0-5363-881D-ECDD-99F83432317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94871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787FA2C-E603-94B3-BA10-F6645705849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3513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7664AE50-9F09-679F-6A2C-FCFE2305B0F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541021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091BDB1-D06A-F20F-BD0A-FA4BEE12E6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963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4B2A11E-0D27-4D46-A91D-448866797E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ABE6E289-1987-1965-BF2F-9BA862779B9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35A2DADA-11CE-0CFF-67A5-C675A9F7976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1805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89CDCE3-2BC6-3295-3B7D-D64BF96C545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257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CD76792D-C530-0E2F-8D16-3B89EFFB4FF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62712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36CB067-7239-D038-646D-52E7105AE7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94871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BA33470-6404-0E70-04B0-CDCAA18D436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3513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068F9459-BC8A-0B9B-0553-20FAA0BDB905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541021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687739-4F1B-4886-C248-53466C296513}"/>
              </a:ext>
            </a:extLst>
          </p:cNvPr>
          <p:cNvSpPr>
            <a:spLocks noGrp="1"/>
          </p:cNvSpPr>
          <p:nvPr>
            <p:ph type="dt" sz="half" idx="42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143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6F79B09-7D88-8381-B406-AFD71843F9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4000" y="2197099"/>
            <a:ext cx="10504000" cy="37741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5D5E2D8-F574-39FC-A2DB-A1AE4B96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74751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354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23949A-41F3-9274-96B9-AE55D20E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73CEA9-5FE2-4144-7BCF-29CF17143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13246-8EC0-8C70-3F45-8768D7C5F7C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650C69B-A152-BD06-9047-9F7118B5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7912CA5-005B-5D63-2624-E78C51C2E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693E4553-C52A-1094-51E7-50535E769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19C42F7F-708C-263A-B3B6-00E85FDE0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12D9E626-EA86-5127-0C73-7BCA5CC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: Shape 59">
            <a:extLst>
              <a:ext uri="{FF2B5EF4-FFF2-40B4-BE49-F238E27FC236}">
                <a16:creationId xmlns:a16="http://schemas.microsoft.com/office/drawing/2014/main" id="{E36196F9-2EDE-D6C7-C18F-0CA6607F6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2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424940"/>
            <a:ext cx="10515600" cy="1325880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143AB-871B-A40A-4ABF-203E3630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800" y="313467"/>
            <a:ext cx="11554400" cy="55070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213731-C6F5-8BF4-CFFA-DB6F3E7C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518267-D602-CAB2-16AC-CF280D72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6B0E37-DA37-08EC-5352-201C4409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150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7031" y="977462"/>
            <a:ext cx="6357939" cy="1639640"/>
          </a:xfrm>
        </p:spPr>
        <p:txBody>
          <a:bodyPr lIns="0" tIns="0" rIns="0" bIns="0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179A78-77A7-2005-19C5-C07E817A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030" y="3178628"/>
            <a:ext cx="6357939" cy="284745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050"/>
            </a:lvl4pPr>
            <a:lvl5pPr marL="1828800" indent="0" algn="ctr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D3A9C5A-2E4F-8513-3BB5-484AF6AB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71FE74-F4ED-F522-8E6C-987B7D92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4DB04A-B800-A67D-2202-5E3127DE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8FE1527-C73A-10FD-DC23-1B90C0C20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594723" cy="121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606E1E0-F3DA-894A-2D3C-A22A48141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218702"/>
            <a:ext cx="592750" cy="3553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37B66F-8A88-B401-B56A-B1819D1B7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72126"/>
            <a:ext cx="592750" cy="20858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8B4A883-7D2B-B3A4-E71C-97A5282E4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-1"/>
            <a:ext cx="589758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33DD5763-4396-FB3F-84CF-397FE27E1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5880326"/>
            <a:ext cx="592750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79FFE37C-246F-C521-201C-7A3929C7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606189" y="0"/>
            <a:ext cx="593702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03D9D30-3DEA-8443-E734-46EB19A66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92" y="2076566"/>
            <a:ext cx="589753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CFF138E9-CABA-E863-0725-2AF946DDF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5633579"/>
            <a:ext cx="589755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20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0BBEF3D7-DB5B-7581-44D1-A96990F4C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Freeform: Shape 59">
            <a:extLst>
              <a:ext uri="{FF2B5EF4-FFF2-40B4-BE49-F238E27FC236}">
                <a16:creationId xmlns:a16="http://schemas.microsoft.com/office/drawing/2014/main" id="{AA1200B2-C1B6-992C-FCB0-92D95EFEB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3F37E9B1-B103-4DC6-4C5C-CBAE64410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69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CE39DDF-DFF5-AB6F-F487-951C570FC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7BD2-62D0-543A-E4EC-DB0D7C8A1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2385976"/>
            <a:ext cx="5464817" cy="24547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0CB7A08-999A-FAF6-CC22-3A805F79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1001B33-CCD1-56DE-1347-50FE52B4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5BA3F666-FC83-4A06-E2D1-F54F36EE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523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1706AB-E4B8-078D-026D-990252BF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2258568"/>
            <a:ext cx="6077527" cy="355701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DBBEFEB-B716-AD6B-320D-005C214A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24575B1-A0F2-12EE-BB19-CB6ADE8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431A50-B82F-CFF9-D038-8C4456D0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F11A17-6EB4-B345-9C96-E6F438C8A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3B3BEDEF-57A1-D087-1E15-6B0456EC5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1370119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0E338B6-58A3-91A4-F5EB-CD40D614F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5AD26084-EDDC-61FF-5474-7DF349CC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1360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F18FE0-442F-6AE0-4A34-0A68895F3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1109587"/>
            <a:ext cx="6077527" cy="46388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DC0C90B-196D-619B-00AC-36C5F6C0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64F9FBE-A6F5-09E6-684B-233C0D23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451D253-EA22-2614-2FD1-DC0FEB26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6832F4-CE37-2BF9-DDF5-11B7ABE0B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394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: Shape 59">
            <a:extLst>
              <a:ext uri="{FF2B5EF4-FFF2-40B4-BE49-F238E27FC236}">
                <a16:creationId xmlns:a16="http://schemas.microsoft.com/office/drawing/2014/main" id="{7DBA236D-4EBB-E514-DF68-7891C120A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-229131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A191311-3AF4-ADF9-7C92-3ED08ED5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7C5B45-BE42-B3FC-6515-F1F37CCC2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97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383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DD1C0B-8CAB-7B69-0068-FA66F2AC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874923"/>
            <a:ext cx="6077527" cy="4940661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C4E1284-6ADD-36BA-D939-FD3B6B69F2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EEB4352-9E14-63F9-D5BD-0659C3CC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A0B020-52CF-C931-68F6-A67EAB11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16">
            <a:extLst>
              <a:ext uri="{FF2B5EF4-FFF2-40B4-BE49-F238E27FC236}">
                <a16:creationId xmlns:a16="http://schemas.microsoft.com/office/drawing/2014/main" id="{274252EB-C02E-C37B-E2A2-ABBFED742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Freeform: Shape 17">
            <a:extLst>
              <a:ext uri="{FF2B5EF4-FFF2-40B4-BE49-F238E27FC236}">
                <a16:creationId xmlns:a16="http://schemas.microsoft.com/office/drawing/2014/main" id="{66E27A39-E979-7436-99F0-9EE45FC8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Freeform: Shape 19">
            <a:extLst>
              <a:ext uri="{FF2B5EF4-FFF2-40B4-BE49-F238E27FC236}">
                <a16:creationId xmlns:a16="http://schemas.microsoft.com/office/drawing/2014/main" id="{ACA57297-62CA-9D0A-0CFD-396A7514D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389D975E-EBA4-68ED-C38F-B40A2C9D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7888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46B297-C880-6157-3B17-0BC02453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831919"/>
            <a:ext cx="6742545" cy="5194161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EECDA90-A26B-C002-52AC-C255703344E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7998B-12FC-4418-98A3-E280DFBA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562A23-051B-C681-23C4-7436AC39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9702558A-53E4-8EAB-6E0F-09871DB4F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D9D4F1C-0061-C3CC-D460-24FDA6B88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BE74AEB5-27F7-D3F7-353D-F0C293E28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038BAB3B-0C8B-44FB-985D-D01959AF8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0646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>
            <a:extLst>
              <a:ext uri="{FF2B5EF4-FFF2-40B4-BE49-F238E27FC236}">
                <a16:creationId xmlns:a16="http://schemas.microsoft.com/office/drawing/2014/main" id="{F32ACEC3-9042-9CA8-6E03-E51EC9B0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C406346C-7029-3258-5052-CEF732EAE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1525127B-EAD0-C6C2-5539-A82B684A5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0AD2D883-EB46-4708-231E-8E06FFCC0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1700B-05FA-57C3-2F6D-E68122FE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A9F9493-409B-15D0-BE96-3C506B18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1E01870-8427-A77F-33A2-524EAE9E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0307E41-6967-98D0-2B22-C44AADD6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14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CE92327-3D7D-91A2-CBCF-20D784881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611E7B7-7FBD-C6BE-4220-4A9AFC269A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94C599F-AFDE-9701-5E41-913EF170A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6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4ECD-4494-EA14-631D-9D60BF413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6979BA07-7690-B8B0-F566-619EBF2C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B42A884-4919-DB12-4A6A-A0629C84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0A143ED-F5E5-1F8B-C749-6CB1442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72328280-7591-87BA-48BC-57154E8F9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E2E09B4-079D-3AC2-569B-351AC77F3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6623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>
            <a:extLst>
              <a:ext uri="{FF2B5EF4-FFF2-40B4-BE49-F238E27FC236}">
                <a16:creationId xmlns:a16="http://schemas.microsoft.com/office/drawing/2014/main" id="{67A2B41B-7B73-7F7C-BDE4-B64E367EF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ECD5DF8A-9681-079A-0E04-84852AD0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26C698D-FB25-B1C4-B155-8945F760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DCB0DA2-1A73-EDEF-65E1-746EFDD23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9BD555F-4F6F-4781-E21D-653B87345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1" y="2187607"/>
            <a:ext cx="10504000" cy="182334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B0601-C34C-BDF8-8583-9991A91F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4202973"/>
            <a:ext cx="10504000" cy="14986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5F96EBD-A9C3-5CC5-2542-574F1140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D8FB8D1-F05B-FD90-FBC8-67149E0F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84F2-1BC7-D2C7-0CEC-21588919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955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AB4555F-BCE5-B734-1A0A-7B68F143C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9458D0-3685-F716-1340-4CA2129F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49" y="2698033"/>
            <a:ext cx="4040595" cy="295742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5FDF597-FAC1-BC65-1C5C-5C7AA57F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8CF5147-075A-42DE-BA84-4D53ACCB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966F281-4FB2-63EB-5F87-0CE9630E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FB09EC07-8CA4-4E29-5495-97F9FF909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7907203D-D192-301A-C181-9D4573A85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C631F856-0C45-8546-C095-0C0B6F379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924F2AA6-5AE1-A2E0-1742-8C420548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0429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155CA260-60C6-0862-8D37-67F8B32D7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5" y="2698032"/>
            <a:ext cx="4040596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4AD2F-D082-4D53-364B-2AB7F22C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3427FD-24F0-2A8C-4797-41345DBC146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5F9FEB-4B22-C769-CFAF-F6CF37A5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8B32F-8DE7-DA38-22D9-A4AB011E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reeform: Shape 16">
            <a:extLst>
              <a:ext uri="{FF2B5EF4-FFF2-40B4-BE49-F238E27FC236}">
                <a16:creationId xmlns:a16="http://schemas.microsoft.com/office/drawing/2014/main" id="{4FEF3EBE-C792-9A19-4F3A-11F8E8521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Freeform: Shape 17">
            <a:extLst>
              <a:ext uri="{FF2B5EF4-FFF2-40B4-BE49-F238E27FC236}">
                <a16:creationId xmlns:a16="http://schemas.microsoft.com/office/drawing/2014/main" id="{32DD04BE-0EC2-B435-EC39-F70F0B4D4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Freeform: Shape 19">
            <a:extLst>
              <a:ext uri="{FF2B5EF4-FFF2-40B4-BE49-F238E27FC236}">
                <a16:creationId xmlns:a16="http://schemas.microsoft.com/office/drawing/2014/main" id="{C7346FF1-1F4E-6102-72E8-B661677DE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Freeform: Shape 18">
            <a:extLst>
              <a:ext uri="{FF2B5EF4-FFF2-40B4-BE49-F238E27FC236}">
                <a16:creationId xmlns:a16="http://schemas.microsoft.com/office/drawing/2014/main" id="{281C9290-51EF-B467-0F94-917BE4AB6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1078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161B8709-B6C6-B6A2-8039-23E2746AC2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3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CE8CAE3-17FA-FA2A-D6BF-43BBD09B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BCF6BC28-50F8-F181-0051-83FAF05643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269C55-855F-A8C7-5284-8ADFEC54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4DC330-9F30-20C2-60AD-2F0AD287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BA67A5-F86C-E56E-2CA5-913F58D0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1D8A0EC4-4B8F-427F-7E90-7A7BCDFFE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7710114B-0C3A-98B0-CCBD-1242ACA3F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0F1B5886-DB08-F251-544B-FA1B14D51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0BA04B21-2519-6018-CD0C-897EC7ACF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402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D37751-87A6-2102-5FE0-13CF0475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064" y="2050473"/>
            <a:ext cx="4522936" cy="39527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57C7EDD-DB32-06EC-F820-BCF6715A244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C55F9D-1F89-7C43-F3C5-6A855F82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A576E1-43A8-DA10-8404-0BA92AFB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4774B974-C60E-962D-A2BF-A8D91844B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38ED7D40-86A1-ABCA-9230-F31126FBD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644CC40D-4D0B-8820-3E77-FF38C10EF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F876AF74-00A8-A58C-C900-156CB37EC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4277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87664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6A5C8C-1C5F-8F3C-7273-ECFA2686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491" y="2899064"/>
            <a:ext cx="4572000" cy="31270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49D7FA6-EF6B-01F5-1B41-77B0DC79D0E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C0937A-F86B-C55A-CAB8-2F846105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1334FA-8FF3-5A9F-F579-96C33FF3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7A021801-1E66-C93E-CA81-2F4A5B6D0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DE776DA-FCE8-B4E5-0C47-C09678BFF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850E7C7-C469-6C82-35B3-A4D50FA38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BDD13537-C329-9582-A499-5B198F35C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085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8022B9-94F3-E71A-0D00-132BBF9A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0" y="2595418"/>
            <a:ext cx="3423200" cy="340775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22A4C20-C591-B7BA-88A2-EE4295E42B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90BD26-2598-EE89-F73A-1685B739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882322-2806-6BFB-ACF1-EB3E6930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A7FA8BD1-9A20-5381-CC5C-A27497B1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FCD0DE49-3A7C-EE4C-61A3-FAF4F1B2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67B11D7-CD08-FAED-9296-480025235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50CF2599-B950-2167-E974-CC7481C78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484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anchor="b">
            <a:no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04DE6-EAC2-AC37-0397-9528F6C57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2540000"/>
            <a:ext cx="3423200" cy="34860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8F2FDC-C562-B34A-6571-DC327742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8CD5EAC-3346-2E3B-3C1B-E978B8BD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21974C-11FF-808A-131E-5B13E74A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69F1C76D-67DE-DFCB-797B-209A9222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2D7E2290-C841-FA30-B540-94E323C37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98CB2567-FE22-5916-E6EE-BF2E420C8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061982EF-A562-8BFF-583D-EB011D564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2110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3DB3FE-F7D2-E449-4412-979DFDADD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52" y="2992582"/>
            <a:ext cx="3273553" cy="29310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3F9524-AF16-7B88-FD0F-5D85D35D402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09F231-51ED-DDB0-9D71-BF8956AA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04408D-81FD-E507-7BBD-A8D6584E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697E7E97-2AF1-DCEF-1577-E6BB3BF3A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E9317DCD-DD5B-9395-5430-ADD837B16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FD993BD8-30E5-EFEA-32A5-68475D04F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AA84551-1089-1E65-5C17-6F400C1EA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7138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29A789-F42A-CE01-5134-E27AA72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7236" y="4509559"/>
            <a:ext cx="5750764" cy="15165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E6EE51A-242F-6B3B-BC3A-A775A4D3ABC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AF2934-39B9-625F-CE2A-760A04F0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A7CB57-5E03-8E25-767F-8320CC05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EDC08D2B-BE98-2387-126D-01CA1E351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DB9B957-9A7F-6030-9FD9-7190608C4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E30A39C3-B004-B36E-236D-BDD46BB5E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C16C57F0-678F-7C1D-45CA-3A0EEF6DA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7400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8E2102-73F7-E059-C739-47418EA88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109" y="3785800"/>
            <a:ext cx="7357891" cy="2240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529124B-3B19-6FC6-9F79-A760D6CA945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173872-0F8A-92BB-60FA-06E41B05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982C76-6FB9-F3AD-FA15-0D32F3D9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9731B2A6-3038-F565-C577-E69DD5BC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A67BA275-E7E6-7053-A026-EB3872622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F446589-4583-8647-CFA5-49008F0B9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B5B742C4-F546-E27E-53EA-AC608C08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8305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37715F-06AC-F5A6-12CE-84D44B400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764" y="824389"/>
            <a:ext cx="7293236" cy="224780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A42EE36-6D78-ED96-BA7A-0AE1F0DD31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E381D81-8909-BE95-6F06-C0C32493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5B87E8A-0424-908A-2920-72BA97B7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F2F4F436-2885-E919-59D1-9F4B72461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19B02536-A5B7-CFE8-D253-CC3FCA173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99ACFEDC-62BE-1738-94DB-A9A847423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C3F2215-0CD2-E69F-A2BD-8DFCDB37B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7222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8C7461-314A-7430-6CA4-63A01F73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017" y="2081049"/>
            <a:ext cx="4108945" cy="394503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8C7D2F-9D75-2435-3CAF-B6029DA9EDE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94DE6-442D-DCFE-9025-59816725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CE053A-D84D-F068-2187-0593A6D6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481F23A8-0C6F-3F32-0B98-06736333D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C56C0F3-A0B5-A7A6-A072-97B2A5722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9D199749-F152-56FE-4504-73DF7E157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95BDD05D-8B5F-8B0A-B47B-E97C0D386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4987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71DC-86DF-2230-52AD-9440B5CB4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852883"/>
            <a:ext cx="5750764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162FE03-22B1-3FC9-D0A1-70C4C9B6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AAD1C7F-699D-B975-BBB5-3F8AAE99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90F4F4-332A-7489-099F-649FE29D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69458B26-18DF-0F22-F73B-FBF0117A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29454459-F726-2777-3904-98ED4301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4AFF45CF-7D31-04CD-2EDB-8FBEADAE8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7EC0A88E-95E4-54C0-4C7B-90A8A6AD7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890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C9BBE1-F163-BFCA-3F62-3189A30F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073" y="852883"/>
            <a:ext cx="6757527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D1735F2-E2C8-9B6A-C3E1-C7B56CDE41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ABF240-AB8A-B851-60A3-07C17BF9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CE6569-5A00-FAA6-16A6-9CAC579A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D093A1E9-14E7-F1BD-8AD3-0926AC48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C082F9D-17F7-A6A3-6F59-395DBD040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0635C57-C6B6-95FF-FF70-8E4EC72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64C0BF67-AD24-8BA3-7BFE-4FC4B3109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1093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3999" y="5076496"/>
            <a:ext cx="7559021" cy="949583"/>
          </a:xfrm>
        </p:spPr>
        <p:txBody>
          <a:bodyPr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D0B43-8816-7247-6389-43D5551017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7E193F-93CE-A072-84E6-1413DA17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8423F9-4799-A3D7-1F4C-F18DF70A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: Shape 16">
            <a:extLst>
              <a:ext uri="{FF2B5EF4-FFF2-40B4-BE49-F238E27FC236}">
                <a16:creationId xmlns:a16="http://schemas.microsoft.com/office/drawing/2014/main" id="{88041669-6793-077D-9837-4A969A82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Freeform: Shape 17">
            <a:extLst>
              <a:ext uri="{FF2B5EF4-FFF2-40B4-BE49-F238E27FC236}">
                <a16:creationId xmlns:a16="http://schemas.microsoft.com/office/drawing/2014/main" id="{AC3F6980-A0AE-0D20-BB5F-49A002200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02937DA2-B26D-43F5-EA04-BE9925EF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EBDA1D10-E930-CB39-86A5-FA42DB422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543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FE8812C-E055-50E4-0169-A1950E62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6A94C-87F9-4135-8D16-E44AFA1F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E2A589-D2DC-84F9-7195-EA18408E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93E8DDA7-6F09-A45D-D2CD-D785473EF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Freeform: Shape 59">
            <a:extLst>
              <a:ext uri="{FF2B5EF4-FFF2-40B4-BE49-F238E27FC236}">
                <a16:creationId xmlns:a16="http://schemas.microsoft.com/office/drawing/2014/main" id="{67B1242D-E100-7A0B-1A2F-727DD9934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18569" y="-219375"/>
            <a:ext cx="312166" cy="7493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D3D4B49A-33A3-4552-3BC7-AFEDF4F56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-1971971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539B139C-807D-C305-EDA8-691E0DFB6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-590448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878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BFDC082-8545-4E14-11AF-FFBD6384E6D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FEC98-351C-9217-F32A-E626491D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528185-249C-C3DD-E678-AFBB8FFF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699D7479-A95C-B9AB-8F14-BDAE9D99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6AD101D-8188-88D0-9B81-9437DD5E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1148622B-2A3E-B519-D517-B1227723B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0B9E09DF-714D-90DF-B3AD-44EABE33E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32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0D95FF-5457-4897-C849-71357B0BD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FA8F0C3-BC6D-6591-CB4A-11D861FBC72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90E5DD-D445-87A5-7673-8A1F88BD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BBD032-D2AB-904A-8441-9141AC45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BB3875C-AB86-8E9A-4F93-9CCBB06B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B298429-8DA5-BFFD-51EB-A90E073B0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3C3643E2-FB9D-A282-05D4-4ADCA28D3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1D24C1E-2499-ECF1-B8DF-E0B4343EA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B0AE408-95C0-A98F-93FE-469A71B6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9012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FA7C22B-A89C-426A-2C61-A4248B0DB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372961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2744D9B-8B76-550A-34DF-7C3E89C14E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3EFFE-734C-E450-E89C-CA99223B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40393E-DBD1-6BA9-3978-D776FE47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A968107-B15C-8E6D-FE8F-5B9CF718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C74BB1-A215-A0A5-E737-8BCC4B63B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EBEFF781-B473-6F4A-B48E-4BDDBDA22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9949D4-4863-4EB4-07B7-1DE490BE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66188E6-7A98-AC66-FEEF-2258A532A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2661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93AB473-5AA2-F8C2-52FE-444C26F55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B5C6304-7175-022B-6047-B7061B9529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01E0B-6390-6AEC-5C53-5D538E15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D45BA7E-BB20-C646-2450-F8562ED9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B1D2082-DF85-D231-9624-6372331F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3E5FC2-5685-46E9-2717-E0629E60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C526560E-0081-7213-2B8C-2BEC157A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9A8E9E-14B4-DCD2-5039-79CFB3442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DBFDC890-4416-3434-05AF-08ECA9FC9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681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50D50B0-843C-5B14-48D1-87F8D200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6ADB1-ED49-7629-9149-E16F9F0A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9AE49E-D511-6279-081B-4E86B48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D384D22-7069-5A9F-31CA-EEDEA8AAF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6AE04790-7C0A-5078-4BBB-C4DBA5633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5111550E-DD6C-68D9-796D-CC69B24BB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29EB5C97-94A5-1E7B-8EEE-F0194617F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935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0EAFB48-77A7-BA54-C30E-13615B2CFC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CA297-04CE-E894-0801-F7FA853E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02B948-797F-2EDF-6B6F-80E26357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37AA86A7-00D3-E74F-78A0-15D0D5E67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6BF3A7D-5E07-57E7-65BD-0684EBF6B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DC52BC5-949D-F72A-1862-B4C2DF8AD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64EF6841-D3F8-5018-9386-312A1A88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222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9DEA9FFE-FE2C-A2CF-6A54-6A11FD045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7F3191B1-5F85-BFE9-41AB-CC31EB42A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51857FF-9996-86DA-9589-6D9F2E71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6B0CE-1E90-D91B-206A-1AAEF0D8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564268-0963-3A71-EC86-705E6E65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0AFCBF-0E31-230A-60F4-103AA780A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15B40AB6-F47D-71EB-5487-2535D533C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880F52-3352-D5BD-BC6D-2567B22B1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93C49F-06BF-DE6C-456D-E415925B3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629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951C9BE-1BC0-DA0E-97D3-AEEBAEC8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2A408A81-CDF6-5FC4-EB66-DF74E6CD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4B2F785-3677-7806-7A3C-AB27487B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0792B4B1-A255-634B-7113-0BE8BAE88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3E17EB6F-9BB3-4A94-402E-FAD02B2C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B5C09CFD-5DB4-D507-3AC9-437BB1B64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4" name="Freeform: Shape 59">
            <a:extLst>
              <a:ext uri="{FF2B5EF4-FFF2-40B4-BE49-F238E27FC236}">
                <a16:creationId xmlns:a16="http://schemas.microsoft.com/office/drawing/2014/main" id="{3D77659E-88C7-E969-8E1D-2B9E7B09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7967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54F43-A159-C557-9E6B-CFF4F10369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669F11A-4BB7-E399-ADBB-0F360C06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6F30B9-EE4B-C493-7E8E-D3B0E35E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03AB0DEF-0DAF-10A0-D371-A2D5CFF30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CE00B65A-4DD3-A66E-7B7D-B1480BCB5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69C3029D-7FB9-5E45-82D3-D6A8844A6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BE1498E0-4720-9D5C-04B8-B5A8136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0893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21">
            <a:extLst>
              <a:ext uri="{FF2B5EF4-FFF2-40B4-BE49-F238E27FC236}">
                <a16:creationId xmlns:a16="http://schemas.microsoft.com/office/drawing/2014/main" id="{D0542117-0280-7EF2-981E-7EBEEA22B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077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C0CA7D34-E67D-8E1E-D764-4EEF48B5F10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7242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F9C1CC2-757F-2074-A27F-0C3465D031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37242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Picture Placeholder21">
            <a:extLst>
              <a:ext uri="{FF2B5EF4-FFF2-40B4-BE49-F238E27FC236}">
                <a16:creationId xmlns:a16="http://schemas.microsoft.com/office/drawing/2014/main" id="{57B833E3-1027-D68D-486F-417BDE65BF4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5376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51119BFC-5232-31B7-0199-2BC44B1610E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4541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B52BFC0-79AE-E39B-C284-97D8EDBCA7A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74541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21">
            <a:extLst>
              <a:ext uri="{FF2B5EF4-FFF2-40B4-BE49-F238E27FC236}">
                <a16:creationId xmlns:a16="http://schemas.microsoft.com/office/drawing/2014/main" id="{CF406033-2018-29A3-CCC9-6C9E44FD5D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14789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C3ED7ECE-1ADF-CD96-C30D-6F02AC54B1F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06435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12DF7936-36F7-44AF-D721-23AB6274392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06435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3EABF6-4EA1-0F72-47E7-E214CDBF7DD4}"/>
              </a:ext>
            </a:extLst>
          </p:cNvPr>
          <p:cNvSpPr>
            <a:spLocks noGrp="1"/>
          </p:cNvSpPr>
          <p:nvPr>
            <p:ph type="dt" sz="half" idx="4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59">
            <a:extLst>
              <a:ext uri="{FF2B5EF4-FFF2-40B4-BE49-F238E27FC236}">
                <a16:creationId xmlns:a16="http://schemas.microsoft.com/office/drawing/2014/main" id="{ED3CEBA7-0265-2989-2EC6-ED2043F33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25533D8-30B7-6701-E92E-C0BA672DC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35F9418-7400-2BD9-AE41-597ECEA37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: Shape 59">
            <a:extLst>
              <a:ext uri="{FF2B5EF4-FFF2-40B4-BE49-F238E27FC236}">
                <a16:creationId xmlns:a16="http://schemas.microsoft.com/office/drawing/2014/main" id="{C0743258-BC4B-50FD-71BE-9D97DF0A8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885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A6D91015-EB22-C504-4A41-5D8469D6BF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64866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532D2B12-D41E-8DA0-8841-A776ACF449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064866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40A11E8F-696A-E4EF-90AF-7299A387E8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56353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35">
            <a:extLst>
              <a:ext uri="{FF2B5EF4-FFF2-40B4-BE49-F238E27FC236}">
                <a16:creationId xmlns:a16="http://schemas.microsoft.com/office/drawing/2014/main" id="{ED0764D2-EF05-95D7-E518-B428DEA78A5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56353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C07DDEA9-66DD-7AAA-0D2F-798B2B9629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064866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D27F749F-CAF5-FF7B-7CF9-192E876432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064866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C192F01-6AB2-5F7C-6D0A-CB9465FB2B1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56353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92B7605E-FACE-97D3-9DDD-CBD52582C52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556353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77065C-2494-1885-831E-3BA6D45D1B2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9495CF4B-5A18-C9CB-401F-E668B73D1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A3A58E7B-24DB-5995-5E8D-E19B88CD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7AEF2BAC-C579-9EFD-2089-8AAF5C6A9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5D70562F-DEEF-5606-F5E8-63AEA8B62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6040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E932CF8-809C-FD53-EC2F-3F8B262C9E1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28775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C5471E28-499C-13C5-B42B-B8FC431D73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30248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A5EC27E-AE02-883E-31F5-32208B9F14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30248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5771AF9B-91C5-4FCF-3268-BEF15CB2C65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78356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6CD61A4-9D01-CB18-B80D-F0D20394AF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76966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A936668-A06C-15E6-9A5A-A170E3C8A6D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76966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66E6D2AA-72F5-D5EB-9F7A-61EFDB8679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28775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06D78574-9004-D5A4-06C4-6DE8A9BCBC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930248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9A4992FB-C1F4-515B-6938-346345DE2B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0248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D7A8246B-3515-AD53-2508-3FC029202D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78356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1FFCB778-56FA-17FD-49C7-D7F1BDD26C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876966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7AAE6DE1-1F3D-F4AB-184E-8A3A4CEDCDC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76966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F563E81-A6F0-648D-DCF7-BFF1870E755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495DF-573A-3AAB-5854-8A09491BA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D49C3F5-81F6-6E72-50FF-8F3AEFA1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EEEEF2-460E-B70B-6230-10A7994EF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C4E3626D-71B6-6652-8FE1-40921DF0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0220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E5EE63-A6DA-348D-8495-E51900A59A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88" y="2366167"/>
            <a:ext cx="3255962" cy="3604422"/>
          </a:xfrm>
        </p:spPr>
        <p:txBody>
          <a:bodyPr/>
          <a:lstStyle/>
          <a:p>
            <a:endParaRPr lang="en-GB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4087FA0-09BB-9F62-C383-36B2C6623B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4844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156A739-AA76-7366-9AE0-D20D44A62F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4844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57BB261E-3856-D4EB-E49A-A805AA8CA0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35143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14EE8DBC-744D-FDE5-F388-611D6C0C16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35143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29E55623-928E-5F9E-2EBB-9C1009DA21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34844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E7542672-472E-0E16-8066-DFA6279908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34844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8D6428D0-36EF-16D7-741F-B91DFF9CC9A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35143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0BCE5C17-683A-5D3B-ECCE-2C25D14F893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35143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F234816-4552-682C-7011-792489AA851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516C1398-A7AF-C02F-934D-C37C5E987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B38EA50-6705-E42C-3897-B0D76FAA8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BF1543-7A6B-249C-1650-3EFEB63C1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BBAD9B21-7393-1499-E59D-EA109D80C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2475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CC5A7648-D01A-875E-E9BB-ED5949D47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5EC3073-FA99-7015-CBD2-0E3B9CE430C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4198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C879862E-201F-4356-6D65-28E89DB6F1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1989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A15D05C0-B891-85E5-35C5-24FBD31E32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1989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Picture Placeholder 29">
            <a:extLst>
              <a:ext uri="{FF2B5EF4-FFF2-40B4-BE49-F238E27FC236}">
                <a16:creationId xmlns:a16="http://schemas.microsoft.com/office/drawing/2014/main" id="{B9CDE245-8A43-C7AE-733E-51362998210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552179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6741BED5-DD9B-DA08-B276-4A6A9619A7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52493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4211193A-897F-A0CB-98F7-FD02B1E032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2493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6776899D-7EB0-41AC-9AF4-FE101D6C9E8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84660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1DED0997-D314-C6AE-A692-306403BBE62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84974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CB02C1DA-F7C6-2990-C630-24D0D3CA893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84974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F1FE3630-D074-6944-4F08-08363014CC1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04514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2BD521B6-BD70-6519-3BCC-0441BC9099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45462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B09D8CE1-C90E-B457-C2C5-5AE34D538BF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45462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AF960F-EA2C-059B-FD05-9627AA9B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41B0960E-E397-9136-EE2E-F2595BA18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89DDA4E8-D382-3D12-576D-43FB555E0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695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53CF-A657-E995-A3A7-271D67F3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5E39344-307B-8BD6-D5B8-D1E1F155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F632A0F-F12A-0DEF-B91F-C360E126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193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1757505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4000" y="2724912"/>
            <a:ext cx="3595634" cy="3301168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07742" y="831919"/>
            <a:ext cx="6440258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B9FEA63-1DA3-3F9F-C50E-7AC4477F22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D582E8-8B0D-6439-7715-18DB0157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5968CD-929F-6D74-C903-1AA5B153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0322356F-D701-4C42-BB8B-523069A77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E841F2B-D332-09D0-EBCB-48E8FBC6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024EB45-DF26-BF12-BFEF-CA485F4D9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1D17E64-4E73-BCCA-9364-C59A3D226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8489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2212313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9024" y="3260034"/>
            <a:ext cx="3585586" cy="2766045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DADB269-BBE0-1959-FE0B-2D6A08AE1A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88765A0-98CE-097F-70CA-A8CE8867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4CCF01-6BD8-D0D5-B68F-BF0D0E1E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F978EDC5-9ECC-A0CA-79B2-E1099D052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5CC0BF8E-63A7-7E59-17B3-46BB432D5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7C16A068-4B31-D509-6638-F057A8F5C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Freeform: Shape 18">
            <a:extLst>
              <a:ext uri="{FF2B5EF4-FFF2-40B4-BE49-F238E27FC236}">
                <a16:creationId xmlns:a16="http://schemas.microsoft.com/office/drawing/2014/main" id="{ED2C66E4-77A5-559A-C4D6-22E169AE6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2500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B4F649-ECC0-65D4-73EB-F610B1EEE47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BAC71-4189-4AAE-3C30-91D3E764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5CC0F-60E4-5024-B6AB-D87255AB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DE042-7AE4-75AA-1CFC-25903005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B955153-AC29-8EA8-DE1E-EF143A12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CBF393-915A-6526-812F-61956DD2E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36817505-F187-6307-3AA7-E8701992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800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21509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915D485-D4CB-65C5-C05B-8D3E535F6A4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7240-62F7-D89C-BF3D-34806BC2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726FF9-AAAD-F331-EC9B-83CB551F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16">
            <a:extLst>
              <a:ext uri="{FF2B5EF4-FFF2-40B4-BE49-F238E27FC236}">
                <a16:creationId xmlns:a16="http://schemas.microsoft.com/office/drawing/2014/main" id="{7C2CB355-42E5-6CAD-CDA4-04E8698C7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7F51CA23-0DF4-94C6-A295-9A6ED5AA7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9">
            <a:extLst>
              <a:ext uri="{FF2B5EF4-FFF2-40B4-BE49-F238E27FC236}">
                <a16:creationId xmlns:a16="http://schemas.microsoft.com/office/drawing/2014/main" id="{78973DDC-FE45-271D-D333-1265C63DC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98BB5E17-8DB4-2B6A-4A48-E57456A31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02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23">
            <a:extLst>
              <a:ext uri="{FF2B5EF4-FFF2-40B4-BE49-F238E27FC236}">
                <a16:creationId xmlns:a16="http://schemas.microsoft.com/office/drawing/2014/main" id="{590E6AF1-4025-C539-6638-597177D00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2617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Title 6">
            <a:extLst>
              <a:ext uri="{FF2B5EF4-FFF2-40B4-BE49-F238E27FC236}">
                <a16:creationId xmlns:a16="http://schemas.microsoft.com/office/drawing/2014/main" id="{25E8EC5E-EA9E-1F86-2E83-5D54996011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64" y="1532081"/>
            <a:ext cx="5273221" cy="3793838"/>
          </a:xfrm>
        </p:spPr>
        <p:txBody>
          <a:bodyPr lIns="0" tIns="0" rIns="0" bIns="0" anchor="ctr">
            <a:noAutofit/>
          </a:bodyPr>
          <a:lstStyle>
            <a:lvl1pPr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5" descr="A woman wearing a yellow sweater working at the office">
            <a:extLst>
              <a:ext uri="{FF2B5EF4-FFF2-40B4-BE49-F238E27FC236}">
                <a16:creationId xmlns:a16="http://schemas.microsoft.com/office/drawing/2014/main" id="{0F266249-25B1-EF53-33EB-FA594F7F68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3457" y="1326812"/>
            <a:ext cx="3778434" cy="4924193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21528A5-067A-BD49-2204-67FF006E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E67C389-E6A8-48B1-74CD-322C690F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D7705C1-E2D3-B1B7-C51C-44843980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5917FF65-0254-002E-D43D-FF8B5E603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D6108ED-5598-D9CD-3F7C-E35B4C8BB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21EB73BE-3F32-B696-CCF3-3120CC026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4" name="Freeform: Shape 59">
            <a:extLst>
              <a:ext uri="{FF2B5EF4-FFF2-40B4-BE49-F238E27FC236}">
                <a16:creationId xmlns:a16="http://schemas.microsoft.com/office/drawing/2014/main" id="{A7A3C520-412F-3B3C-3DD2-BA1FA9970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99367659-61EC-44B3-A73E-47A6D3C10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14EDCCCA-96A0-0D33-9C7F-224DCB3D5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956" y="3472845"/>
            <a:ext cx="1358044" cy="675816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2C55E30B-D458-A8B6-11AB-5FAEA926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4" y="4148664"/>
            <a:ext cx="1358043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1D1A457-4F77-6BE6-3713-4638E83D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58045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5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z="1418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z="1418"/>
              <a:t>Click to edit Master text styles</a:t>
            </a:r>
            <a:endParaRPr lang="en-US"/>
          </a:p>
          <a:p>
            <a:pPr lvl="1"/>
            <a:r>
              <a:rPr lang="en-US" sz="1418"/>
              <a:t>Second level</a:t>
            </a:r>
          </a:p>
          <a:p>
            <a:pPr lvl="2"/>
            <a:r>
              <a:rPr lang="en-US" sz="1418"/>
              <a:t>Third level</a:t>
            </a:r>
          </a:p>
          <a:p>
            <a:pPr lvl="3"/>
            <a:r>
              <a:rPr lang="en-US" sz="1418"/>
              <a:t>Fourth level</a:t>
            </a:r>
          </a:p>
          <a:p>
            <a:pPr lvl="4"/>
            <a:r>
              <a:rPr lang="en-US" sz="1418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9DDEA0E-07E9-13B1-EDC7-61BAFA5FF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fld id="{FD138C57-8E3B-4697-92F8-0ED9B71F7E17}" type="datetime1">
              <a:rPr lang="en-US" smtClean="0"/>
              <a:pPr/>
              <a:t>6/1/2025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EA10547-A0BF-14BF-EF18-92FBBF644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 sz="12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13A03B-58A6-5266-F4CA-95B7A6F4B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 sz="1200"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3" r:id="rId4"/>
    <p:sldLayoutId id="2147483707" r:id="rId5"/>
    <p:sldLayoutId id="2147483650" r:id="rId6"/>
    <p:sldLayoutId id="2147483654" r:id="rId7"/>
    <p:sldLayoutId id="2147483754" r:id="rId8"/>
    <p:sldLayoutId id="2147483755" r:id="rId9"/>
    <p:sldLayoutId id="2147483760" r:id="rId10"/>
    <p:sldLayoutId id="2147483761" r:id="rId11"/>
    <p:sldLayoutId id="2147483762" r:id="rId12"/>
    <p:sldLayoutId id="2147483662" r:id="rId13"/>
    <p:sldLayoutId id="2147483763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2" r:id="rId23"/>
    <p:sldLayoutId id="2147483671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752" r:id="rId43"/>
    <p:sldLayoutId id="2147483753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756" r:id="rId52"/>
    <p:sldLayoutId id="2147483757" r:id="rId53"/>
    <p:sldLayoutId id="2147483758" r:id="rId54"/>
    <p:sldLayoutId id="2147483759" r:id="rId55"/>
    <p:sldLayoutId id="2147483698" r:id="rId56"/>
    <p:sldLayoutId id="2147483699" r:id="rId57"/>
    <p:sldLayoutId id="2147483700" r:id="rId58"/>
    <p:sldLayoutId id="2147483701" r:id="rId59"/>
    <p:sldLayoutId id="2147483702" r:id="rId60"/>
    <p:sldLayoutId id="2147483661" r:id="rId6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872E-D8F0-BF64-FC5F-317F5A47D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0628" y="482261"/>
            <a:ext cx="5824186" cy="1874519"/>
          </a:xfrm>
        </p:spPr>
        <p:txBody>
          <a:bodyPr/>
          <a:lstStyle/>
          <a:p>
            <a:pPr algn="ctr"/>
            <a:r>
              <a:rPr lang="en-US" sz="4000" b="0" err="1">
                <a:solidFill>
                  <a:srgbClr val="000000"/>
                </a:solidFill>
                <a:latin typeface="Franklin Gothic Heavy"/>
              </a:rPr>
              <a:t>Ανά</a:t>
            </a:r>
            <a:r>
              <a:rPr lang="en-US" sz="4000" b="0">
                <a:solidFill>
                  <a:srgbClr val="000000"/>
                </a:solidFill>
                <a:latin typeface="Franklin Gothic Heavy"/>
              </a:rPr>
              <a:t>π</a:t>
            </a:r>
            <a:r>
              <a:rPr lang="en-US" sz="4000" b="0" err="1">
                <a:solidFill>
                  <a:srgbClr val="000000"/>
                </a:solidFill>
                <a:latin typeface="Franklin Gothic Heavy"/>
              </a:rPr>
              <a:t>τυξη</a:t>
            </a:r>
            <a:r>
              <a:rPr lang="en-US" sz="4000" b="0">
                <a:solidFill>
                  <a:srgbClr val="000000"/>
                </a:solidFill>
                <a:latin typeface="Franklin Gothic Heavy"/>
              </a:rPr>
              <a:t> Επ</a:t>
            </a:r>
            <a:r>
              <a:rPr lang="en-US" sz="4000" b="0" err="1">
                <a:solidFill>
                  <a:srgbClr val="000000"/>
                </a:solidFill>
                <a:latin typeface="Franklin Gothic Heavy"/>
              </a:rPr>
              <a:t>ιστημονικής</a:t>
            </a:r>
            <a:r>
              <a:rPr lang="en-US" sz="4000" b="0">
                <a:solidFill>
                  <a:srgbClr val="000000"/>
                </a:solidFill>
                <a:latin typeface="Franklin Gothic Heavy"/>
              </a:rPr>
              <a:t> </a:t>
            </a:r>
            <a:r>
              <a:rPr lang="en-US" sz="4000" b="0" err="1">
                <a:solidFill>
                  <a:srgbClr val="000000"/>
                </a:solidFill>
                <a:latin typeface="Franklin Gothic Heavy"/>
              </a:rPr>
              <a:t>Αριθμομηχ</a:t>
            </a:r>
            <a:r>
              <a:rPr lang="en-US" sz="4000" b="0">
                <a:solidFill>
                  <a:srgbClr val="000000"/>
                </a:solidFill>
                <a:latin typeface="Franklin Gothic Heavy"/>
              </a:rPr>
              <a:t>α</a:t>
            </a:r>
            <a:r>
              <a:rPr lang="en-US" sz="4000" b="0" err="1">
                <a:solidFill>
                  <a:srgbClr val="000000"/>
                </a:solidFill>
                <a:latin typeface="Franklin Gothic Heavy"/>
              </a:rPr>
              <a:t>νής</a:t>
            </a:r>
            <a:r>
              <a:rPr lang="en-US" sz="4000" b="0">
                <a:solidFill>
                  <a:srgbClr val="000000"/>
                </a:solidFill>
                <a:latin typeface="Franklin Gothic Heavy"/>
              </a:rPr>
              <a:t> </a:t>
            </a:r>
            <a:endParaRPr lang="en-US">
              <a:ea typeface="Segoe UI Black"/>
            </a:endParaRPr>
          </a:p>
        </p:txBody>
      </p:sp>
      <p:pic>
        <p:nvPicPr>
          <p:cNvPr id="7" name="Picture Placeholder 6" descr="A building with stairs leading to the entrance&#10;&#10;AI-generated content may be incorrect.">
            <a:extLst>
              <a:ext uri="{FF2B5EF4-FFF2-40B4-BE49-F238E27FC236}">
                <a16:creationId xmlns:a16="http://schemas.microsoft.com/office/drawing/2014/main" id="{E2BED5B4-2DEA-47BF-036D-691EEE7D2772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l="4496" t="-3596" r="44355" b="3596"/>
          <a:stretch>
            <a:fillRect/>
          </a:stretch>
        </p:blipFill>
        <p:spPr>
          <a:xfrm>
            <a:off x="7065818" y="1331046"/>
            <a:ext cx="3751706" cy="4914465"/>
          </a:xfrm>
        </p:spPr>
      </p:pic>
      <p:pic>
        <p:nvPicPr>
          <p:cNvPr id="4" name="Picture 3" descr="A red and black logo&#10;&#10;AI-generated content may be incorrect.">
            <a:extLst>
              <a:ext uri="{FF2B5EF4-FFF2-40B4-BE49-F238E27FC236}">
                <a16:creationId xmlns:a16="http://schemas.microsoft.com/office/drawing/2014/main" id="{86D2298C-1C08-B5E5-BE5D-C3B689F26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594" y="5236845"/>
            <a:ext cx="1217930" cy="10071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1352AD-B6E2-E325-EAAC-506A311F6173}"/>
              </a:ext>
            </a:extLst>
          </p:cNvPr>
          <p:cNvSpPr txBox="1"/>
          <p:nvPr/>
        </p:nvSpPr>
        <p:spPr>
          <a:xfrm>
            <a:off x="304800" y="3434080"/>
            <a:ext cx="6543040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550"/>
              </a:lnSpc>
            </a:pPr>
            <a:r>
              <a:rPr lang="en-US" b="1" dirty="0" err="1">
                <a:cs typeface="Segoe UI"/>
              </a:rPr>
              <a:t>Όνομ</a:t>
            </a:r>
            <a:r>
              <a:rPr lang="en-US" b="1" dirty="0">
                <a:cs typeface="Segoe UI"/>
              </a:rPr>
              <a:t>α:</a:t>
            </a:r>
            <a:r>
              <a:rPr lang="en-US" dirty="0">
                <a:cs typeface="Segoe UI"/>
              </a:rPr>
              <a:t> </a:t>
            </a:r>
            <a:r>
              <a:rPr lang="en-US" dirty="0" err="1">
                <a:cs typeface="Segoe UI"/>
              </a:rPr>
              <a:t>Φώτης</a:t>
            </a:r>
            <a:r>
              <a:rPr lang="en-US" dirty="0">
                <a:cs typeface="Segoe UI"/>
              </a:rPr>
              <a:t> </a:t>
            </a:r>
            <a:r>
              <a:rPr lang="en-US" dirty="0" err="1">
                <a:cs typeface="Segoe UI"/>
              </a:rPr>
              <a:t>Ζούμ</a:t>
            </a:r>
            <a:r>
              <a:rPr lang="en-US" dirty="0">
                <a:cs typeface="Segoe UI"/>
              </a:rPr>
              <a:t>π</a:t>
            </a:r>
            <a:r>
              <a:rPr lang="en-US" dirty="0" err="1">
                <a:cs typeface="Segoe UI"/>
              </a:rPr>
              <a:t>ος</a:t>
            </a:r>
            <a:r>
              <a:rPr lang="en-US" dirty="0">
                <a:cs typeface="Segoe UI"/>
              </a:rPr>
              <a:t>​</a:t>
            </a:r>
          </a:p>
          <a:p>
            <a:pPr>
              <a:lnSpc>
                <a:spcPts val="2550"/>
              </a:lnSpc>
            </a:pPr>
            <a:r>
              <a:rPr lang="en-US" b="1" dirty="0" err="1">
                <a:cs typeface="Segoe UI"/>
              </a:rPr>
              <a:t>Τμήμ</a:t>
            </a:r>
            <a:r>
              <a:rPr lang="en-US" b="1" dirty="0">
                <a:cs typeface="Segoe UI"/>
              </a:rPr>
              <a:t>α:</a:t>
            </a:r>
            <a:r>
              <a:rPr lang="en-US" dirty="0">
                <a:cs typeface="Segoe UI"/>
              </a:rPr>
              <a:t> Computer Science​</a:t>
            </a:r>
          </a:p>
          <a:p>
            <a:pPr>
              <a:lnSpc>
                <a:spcPts val="2550"/>
              </a:lnSpc>
            </a:pPr>
            <a:r>
              <a:rPr lang="en-US" b="1" dirty="0">
                <a:cs typeface="Segoe UI"/>
              </a:rPr>
              <a:t>Επιβ</a:t>
            </a:r>
            <a:r>
              <a:rPr lang="en-US" b="1" dirty="0" err="1">
                <a:cs typeface="Segoe UI"/>
              </a:rPr>
              <a:t>λέ</a:t>
            </a:r>
            <a:r>
              <a:rPr lang="en-US" b="1" dirty="0">
                <a:cs typeface="Segoe UI"/>
              </a:rPr>
              <a:t>π</a:t>
            </a:r>
            <a:r>
              <a:rPr lang="en-US" b="1" dirty="0" err="1">
                <a:cs typeface="Segoe UI"/>
              </a:rPr>
              <a:t>ων</a:t>
            </a:r>
            <a:r>
              <a:rPr lang="en-US" b="1" dirty="0">
                <a:cs typeface="Segoe UI"/>
              </a:rPr>
              <a:t> Κα</a:t>
            </a:r>
            <a:r>
              <a:rPr lang="en-US" b="1" dirty="0" err="1">
                <a:cs typeface="Segoe UI"/>
              </a:rPr>
              <a:t>θηγητής</a:t>
            </a:r>
            <a:r>
              <a:rPr lang="en-US" b="1" dirty="0">
                <a:cs typeface="Segoe UI"/>
              </a:rPr>
              <a:t>:</a:t>
            </a:r>
            <a:r>
              <a:rPr lang="en-US" dirty="0">
                <a:cs typeface="Segoe UI"/>
              </a:rPr>
              <a:t> </a:t>
            </a:r>
            <a:r>
              <a:rPr lang="en-US" dirty="0" err="1">
                <a:cs typeface="Segoe UI"/>
              </a:rPr>
              <a:t>Δημήτριος</a:t>
            </a:r>
            <a:r>
              <a:rPr lang="en-US" dirty="0">
                <a:cs typeface="Segoe UI"/>
              </a:rPr>
              <a:t> </a:t>
            </a:r>
            <a:r>
              <a:rPr lang="en-US" dirty="0" err="1">
                <a:cs typeface="Segoe UI"/>
              </a:rPr>
              <a:t>Βολιώτης</a:t>
            </a:r>
            <a:endParaRPr lang="en-US" dirty="0">
              <a:cs typeface="Segoe UI"/>
            </a:endParaRP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8598A6EA-44F1-7290-CFD6-C141C52E3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57" y="5236049"/>
            <a:ext cx="2364475" cy="100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28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7F69-41ED-30F5-166A-551B5D0C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 sz="4000"/>
              <a:t>Agenda</a:t>
            </a:r>
            <a:endParaRPr lang="en-GB" sz="4000">
              <a:ea typeface="Segoe UI Black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B31C9-771F-A407-D89F-280DF73B2FE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87677" y="2490614"/>
            <a:ext cx="1492778" cy="466990"/>
          </a:xfrm>
        </p:spPr>
        <p:txBody>
          <a:bodyPr/>
          <a:lstStyle/>
          <a:p>
            <a:r>
              <a:rPr lang="en-US" altLang="zh-CN" noProof="1">
                <a:ea typeface="Segoe UI Black"/>
              </a:rPr>
              <a:t>01 Εισαγωγή</a:t>
            </a:r>
          </a:p>
          <a:p>
            <a:endParaRPr lang="en-US" altLang="zh-CN" noProof="1">
              <a:ea typeface="Segoe UI Black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23DB05A-80DA-272F-D48D-DE85B39EC002}"/>
              </a:ext>
            </a:extLst>
          </p:cNvPr>
          <p:cNvSpPr txBox="1">
            <a:spLocks/>
          </p:cNvSpPr>
          <p:nvPr/>
        </p:nvSpPr>
        <p:spPr>
          <a:xfrm>
            <a:off x="4885176" y="2492760"/>
            <a:ext cx="2662608" cy="46699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noProof="1">
                <a:ea typeface="Segoe UI Black"/>
              </a:rPr>
              <a:t>02 Στόχοι πττυχιακής</a:t>
            </a:r>
          </a:p>
          <a:p>
            <a:endParaRPr lang="en-US" altLang="zh-CN" noProof="1">
              <a:ea typeface="Segoe UI Black"/>
            </a:endParaRP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1E26D140-E6C9-BFCC-3BEA-FEB30709928B}"/>
              </a:ext>
            </a:extLst>
          </p:cNvPr>
          <p:cNvSpPr txBox="1">
            <a:spLocks/>
          </p:cNvSpPr>
          <p:nvPr/>
        </p:nvSpPr>
        <p:spPr>
          <a:xfrm>
            <a:off x="8480528" y="2492760"/>
            <a:ext cx="3553397" cy="46699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noProof="1">
                <a:ea typeface="Segoe UI Black"/>
              </a:rPr>
              <a:t>03 Επιλογή Matlab</a:t>
            </a:r>
          </a:p>
          <a:p>
            <a:endParaRPr lang="en-US" altLang="zh-CN" noProof="1">
              <a:ea typeface="Segoe UI Black"/>
            </a:endParaRP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5F987CBC-7FB7-3C7A-0BA0-223D21A702A7}"/>
              </a:ext>
            </a:extLst>
          </p:cNvPr>
          <p:cNvSpPr txBox="1">
            <a:spLocks/>
          </p:cNvSpPr>
          <p:nvPr/>
        </p:nvSpPr>
        <p:spPr>
          <a:xfrm>
            <a:off x="1289823" y="3190366"/>
            <a:ext cx="1492778" cy="46699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noProof="1">
                <a:ea typeface="Segoe UI Black"/>
              </a:rPr>
              <a:t>04 Backend</a:t>
            </a:r>
            <a:endParaRPr lang="en-US"/>
          </a:p>
          <a:p>
            <a:endParaRPr lang="en-US" altLang="zh-CN" noProof="1">
              <a:ea typeface="Segoe UI Black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6AC5F4E5-9A5E-98E3-3DF9-EFE62D5C6AED}"/>
              </a:ext>
            </a:extLst>
          </p:cNvPr>
          <p:cNvSpPr txBox="1">
            <a:spLocks/>
          </p:cNvSpPr>
          <p:nvPr/>
        </p:nvSpPr>
        <p:spPr>
          <a:xfrm>
            <a:off x="4885176" y="3190366"/>
            <a:ext cx="1492778" cy="46699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noProof="1">
                <a:ea typeface="Segoe UI Black"/>
              </a:rPr>
              <a:t>05 GUI</a:t>
            </a:r>
          </a:p>
          <a:p>
            <a:endParaRPr lang="en-US" altLang="zh-CN" noProof="1">
              <a:ea typeface="Segoe UI Black"/>
            </a:endParaRP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968F84B3-844D-4FC2-5411-8F10F74FF872}"/>
              </a:ext>
            </a:extLst>
          </p:cNvPr>
          <p:cNvSpPr txBox="1">
            <a:spLocks/>
          </p:cNvSpPr>
          <p:nvPr/>
        </p:nvSpPr>
        <p:spPr>
          <a:xfrm>
            <a:off x="8480528" y="3190366"/>
            <a:ext cx="2201116" cy="46699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noProof="1">
                <a:ea typeface="Segoe UI Black"/>
              </a:rPr>
              <a:t>06 Screenshots</a:t>
            </a:r>
          </a:p>
          <a:p>
            <a:endParaRPr lang="en-US" altLang="zh-CN" noProof="1">
              <a:ea typeface="Segoe UI Black"/>
            </a:endParaRP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1E40AA33-2692-9445-F58F-AC23E6D4C52E}"/>
              </a:ext>
            </a:extLst>
          </p:cNvPr>
          <p:cNvSpPr txBox="1">
            <a:spLocks/>
          </p:cNvSpPr>
          <p:nvPr/>
        </p:nvSpPr>
        <p:spPr>
          <a:xfrm>
            <a:off x="1289823" y="3920169"/>
            <a:ext cx="1492778" cy="46699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noProof="1">
                <a:ea typeface="Segoe UI Black"/>
              </a:rPr>
              <a:t>07 Demos</a:t>
            </a:r>
          </a:p>
          <a:p>
            <a:endParaRPr lang="en-US" altLang="zh-CN" noProof="1">
              <a:ea typeface="Segoe UI Black"/>
            </a:endParaRP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D5B2C05A-57E8-9F9D-D242-0C4DC6C0C408}"/>
              </a:ext>
            </a:extLst>
          </p:cNvPr>
          <p:cNvSpPr txBox="1">
            <a:spLocks/>
          </p:cNvSpPr>
          <p:nvPr/>
        </p:nvSpPr>
        <p:spPr>
          <a:xfrm>
            <a:off x="4885176" y="3920169"/>
            <a:ext cx="2083059" cy="46699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noProof="1">
                <a:ea typeface="Segoe UI Black"/>
              </a:rPr>
              <a:t>08 Βελτιώσεις</a:t>
            </a:r>
          </a:p>
          <a:p>
            <a:endParaRPr lang="en-US" altLang="zh-CN" noProof="1">
              <a:ea typeface="Segoe UI Black"/>
            </a:endParaRP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7A45A42F-2E84-0C74-6415-19178297D8C0}"/>
              </a:ext>
            </a:extLst>
          </p:cNvPr>
          <p:cNvSpPr txBox="1">
            <a:spLocks/>
          </p:cNvSpPr>
          <p:nvPr/>
        </p:nvSpPr>
        <p:spPr>
          <a:xfrm>
            <a:off x="8480528" y="3920169"/>
            <a:ext cx="2286975" cy="46699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noProof="1">
                <a:ea typeface="Segoe UI Black"/>
              </a:rPr>
              <a:t>09 Συμπεράσματα</a:t>
            </a:r>
          </a:p>
          <a:p>
            <a:endParaRPr lang="en-US" altLang="zh-CN" noProof="1">
              <a:ea typeface="Segoe UI Black"/>
            </a:endParaRPr>
          </a:p>
        </p:txBody>
      </p:sp>
    </p:spTree>
    <p:extLst>
      <p:ext uri="{BB962C8B-B14F-4D97-AF65-F5344CB8AC3E}">
        <p14:creationId xmlns:p14="http://schemas.microsoft.com/office/powerpoint/2010/main" val="365657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28" grpId="0"/>
      <p:bldP spid="30" grpId="0"/>
      <p:bldP spid="32" grpId="0"/>
      <p:bldP spid="35" grpId="0"/>
      <p:bldP spid="39" grpId="0"/>
      <p:bldP spid="43" grpId="0"/>
      <p:bldP spid="46" grpId="0"/>
      <p:bldP spid="4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C65FA8-076F-597A-68FF-7BDFA2AE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815" y="508948"/>
            <a:ext cx="3655400" cy="885360"/>
          </a:xfrm>
        </p:spPr>
        <p:txBody>
          <a:bodyPr/>
          <a:lstStyle/>
          <a:p>
            <a:r>
              <a:rPr lang="en-US" altLang="zh-CN" sz="4000" err="1"/>
              <a:t>Εισ</a:t>
            </a:r>
            <a:r>
              <a:rPr lang="en-US" altLang="zh-CN" sz="4000"/>
              <a:t>α</a:t>
            </a:r>
            <a:r>
              <a:rPr lang="en-US" altLang="zh-CN" sz="4000" err="1"/>
              <a:t>γωγή</a:t>
            </a:r>
            <a:endParaRPr lang="en-US" sz="400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7428F-8074-BDCD-5B9D-C0ADA88E45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731" y="619650"/>
            <a:ext cx="552874" cy="458286"/>
          </a:xfrm>
        </p:spPr>
        <p:txBody>
          <a:bodyPr/>
          <a:lstStyle/>
          <a:p>
            <a:r>
              <a:rPr lang="en-US" altLang="zh-CN" sz="2600"/>
              <a:t>01</a:t>
            </a:r>
            <a:endParaRPr lang="zh-CN" altLang="en-US" sz="2600"/>
          </a:p>
        </p:txBody>
      </p:sp>
      <p:pic>
        <p:nvPicPr>
          <p:cNvPr id="6" name="Picture Placeholder 5" descr="A drawing of a calculator&#10;&#10;AI-generated content may be incorrect.">
            <a:extLst>
              <a:ext uri="{FF2B5EF4-FFF2-40B4-BE49-F238E27FC236}">
                <a16:creationId xmlns:a16="http://schemas.microsoft.com/office/drawing/2014/main" id="{57469F2E-FF15-8D1A-5C41-5332168C672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7961313" y="1918541"/>
            <a:ext cx="3230562" cy="3336830"/>
          </a:xfr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85F5893-DE39-6814-9B10-56E7EA83C12B}"/>
              </a:ext>
            </a:extLst>
          </p:cNvPr>
          <p:cNvSpPr txBox="1">
            <a:spLocks/>
          </p:cNvSpPr>
          <p:nvPr/>
        </p:nvSpPr>
        <p:spPr>
          <a:xfrm>
            <a:off x="647988" y="1713177"/>
            <a:ext cx="6359814" cy="5956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err="1">
                <a:latin typeface="Segoe UI Black"/>
                <a:ea typeface="Segoe UI Black"/>
              </a:rPr>
              <a:t>Σημ</a:t>
            </a:r>
            <a:r>
              <a:rPr lang="en-US" altLang="zh-CN" sz="2400">
                <a:latin typeface="Segoe UI Black"/>
                <a:ea typeface="Segoe UI Black"/>
              </a:rPr>
              <a:t>α</a:t>
            </a:r>
            <a:r>
              <a:rPr lang="en-US" altLang="zh-CN" sz="2400" err="1">
                <a:latin typeface="Segoe UI Black"/>
                <a:ea typeface="Segoe UI Black"/>
              </a:rPr>
              <a:t>σί</a:t>
            </a:r>
            <a:r>
              <a:rPr lang="en-US" altLang="zh-CN" sz="2400">
                <a:latin typeface="Segoe UI Black"/>
                <a:ea typeface="Segoe UI Black"/>
              </a:rPr>
              <a:t>α Επ</a:t>
            </a:r>
            <a:r>
              <a:rPr lang="en-US" altLang="zh-CN" sz="2400" err="1">
                <a:latin typeface="Segoe UI Black"/>
                <a:ea typeface="Segoe UI Black"/>
              </a:rPr>
              <a:t>ιστημονικής</a:t>
            </a:r>
            <a:r>
              <a:rPr lang="en-US" altLang="zh-CN" sz="2400">
                <a:latin typeface="Segoe UI Black"/>
                <a:ea typeface="Segoe UI Black"/>
              </a:rPr>
              <a:t> </a:t>
            </a:r>
            <a:r>
              <a:rPr lang="en-US" altLang="zh-CN" sz="2400" err="1">
                <a:latin typeface="Segoe UI Black"/>
                <a:ea typeface="Segoe UI Black"/>
              </a:rPr>
              <a:t>Αριθμομηχ</a:t>
            </a:r>
            <a:r>
              <a:rPr lang="en-US" altLang="zh-CN" sz="2400">
                <a:latin typeface="Segoe UI Black"/>
                <a:ea typeface="Segoe UI Black"/>
              </a:rPr>
              <a:t>α</a:t>
            </a:r>
            <a:r>
              <a:rPr lang="en-US" altLang="zh-CN" sz="2400" err="1">
                <a:latin typeface="Segoe UI Black"/>
                <a:ea typeface="Segoe UI Black"/>
              </a:rPr>
              <a:t>νής</a:t>
            </a:r>
            <a:endParaRPr lang="en-US" sz="2800">
              <a:ea typeface="Segoe UI Black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D4CE14-2552-CDB0-A6B2-F4E224402198}"/>
              </a:ext>
            </a:extLst>
          </p:cNvPr>
          <p:cNvSpPr txBox="1">
            <a:spLocks/>
          </p:cNvSpPr>
          <p:nvPr/>
        </p:nvSpPr>
        <p:spPr>
          <a:xfrm>
            <a:off x="647988" y="2483384"/>
            <a:ext cx="7038987" cy="3172077"/>
          </a:xfrm>
          <a:prstGeom prst="rect">
            <a:avLst/>
          </a:prstGeom>
        </p:spPr>
        <p:txBody>
          <a:bodyPr vert="horz" lIns="0" tIns="0" rIns="0" bIns="0" rtlCol="0" anchor="t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/>
              <a:t> </a:t>
            </a:r>
            <a:r>
              <a:rPr lang="en-US" altLang="zh-CN" sz="2000" err="1">
                <a:latin typeface="Arial"/>
                <a:cs typeface="Arial"/>
              </a:rPr>
              <a:t>Έν</a:t>
            </a:r>
            <a:r>
              <a:rPr lang="en-US" altLang="zh-CN" sz="2000">
                <a:latin typeface="Arial"/>
                <a:cs typeface="Arial"/>
              </a:rPr>
              <a:t>α επ</a:t>
            </a:r>
            <a:r>
              <a:rPr lang="en-US" altLang="zh-CN" sz="2000" err="1">
                <a:latin typeface="Arial"/>
                <a:cs typeface="Arial"/>
              </a:rPr>
              <a:t>ιστημονικό</a:t>
            </a:r>
            <a:r>
              <a:rPr lang="en-US" altLang="zh-CN" sz="2000">
                <a:latin typeface="Arial"/>
                <a:cs typeface="Arial"/>
              </a:rPr>
              <a:t> </a:t>
            </a:r>
            <a:r>
              <a:rPr lang="en-US" altLang="zh-CN" sz="2000" err="1">
                <a:latin typeface="Arial"/>
                <a:cs typeface="Arial"/>
              </a:rPr>
              <a:t>κομ</a:t>
            </a:r>
            <a:r>
              <a:rPr lang="en-US" altLang="zh-CN" sz="2000">
                <a:latin typeface="Arial"/>
                <a:cs typeface="Arial"/>
              </a:rPr>
              <a:t>π</a:t>
            </a:r>
            <a:r>
              <a:rPr lang="en-US" altLang="zh-CN" sz="2000" err="1">
                <a:latin typeface="Arial"/>
                <a:cs typeface="Arial"/>
              </a:rPr>
              <a:t>ιουτεράκι</a:t>
            </a:r>
            <a:r>
              <a:rPr lang="en-US" altLang="zh-CN" sz="2000">
                <a:latin typeface="Arial"/>
                <a:cs typeface="Arial"/>
              </a:rPr>
              <a:t> </a:t>
            </a:r>
            <a:r>
              <a:rPr lang="en-US" altLang="zh-CN" sz="2000" err="1">
                <a:latin typeface="Arial"/>
                <a:cs typeface="Arial"/>
              </a:rPr>
              <a:t>είν</a:t>
            </a:r>
            <a:r>
              <a:rPr lang="en-US" altLang="zh-CN" sz="2000">
                <a:latin typeface="Arial"/>
                <a:cs typeface="Arial"/>
              </a:rPr>
              <a:t>αι </a:t>
            </a:r>
            <a:r>
              <a:rPr lang="en-US" altLang="zh-CN" sz="2000" err="1">
                <a:latin typeface="Arial"/>
                <a:cs typeface="Arial"/>
              </a:rPr>
              <a:t>μι</a:t>
            </a:r>
            <a:r>
              <a:rPr lang="en-US" altLang="zh-CN" sz="2000">
                <a:latin typeface="Arial"/>
                <a:cs typeface="Arial"/>
              </a:rPr>
              <a:t>α </a:t>
            </a:r>
            <a:r>
              <a:rPr lang="en-US" altLang="zh-CN" sz="2000" err="1">
                <a:latin typeface="Arial"/>
                <a:cs typeface="Arial"/>
              </a:rPr>
              <a:t>συσκευή</a:t>
            </a:r>
            <a:r>
              <a:rPr lang="en-US" altLang="zh-CN" sz="2000">
                <a:latin typeface="Arial"/>
                <a:cs typeface="Arial"/>
              </a:rPr>
              <a:t> η οπ</a:t>
            </a:r>
            <a:r>
              <a:rPr lang="en-US" altLang="zh-CN" sz="2000" err="1">
                <a:latin typeface="Arial"/>
                <a:cs typeface="Arial"/>
              </a:rPr>
              <a:t>οί</a:t>
            </a:r>
            <a:r>
              <a:rPr lang="en-US" altLang="zh-CN" sz="2000">
                <a:latin typeface="Arial"/>
                <a:cs typeface="Arial"/>
              </a:rPr>
              <a:t>α μπ</a:t>
            </a:r>
            <a:r>
              <a:rPr lang="en-US" altLang="zh-CN" sz="2000" err="1">
                <a:latin typeface="Arial"/>
                <a:cs typeface="Arial"/>
              </a:rPr>
              <a:t>ορεί</a:t>
            </a:r>
            <a:r>
              <a:rPr lang="en-US" altLang="zh-CN" sz="2000">
                <a:latin typeface="Arial"/>
                <a:cs typeface="Arial"/>
              </a:rPr>
              <a:t> να </a:t>
            </a:r>
            <a:r>
              <a:rPr lang="en-US" altLang="zh-CN" sz="2000" err="1">
                <a:latin typeface="Arial"/>
                <a:cs typeface="Arial"/>
              </a:rPr>
              <a:t>εκτελέσει</a:t>
            </a:r>
            <a:r>
              <a:rPr lang="en-US" altLang="zh-CN" sz="2000">
                <a:latin typeface="Arial"/>
                <a:cs typeface="Arial"/>
              </a:rPr>
              <a:t> μα</a:t>
            </a:r>
            <a:r>
              <a:rPr lang="en-US" altLang="zh-CN" sz="2000" err="1">
                <a:latin typeface="Arial"/>
                <a:cs typeface="Arial"/>
              </a:rPr>
              <a:t>θημ</a:t>
            </a:r>
            <a:r>
              <a:rPr lang="en-US" altLang="zh-CN" sz="2000">
                <a:latin typeface="Arial"/>
                <a:cs typeface="Arial"/>
              </a:rPr>
              <a:t>α</a:t>
            </a:r>
            <a:r>
              <a:rPr lang="en-US" altLang="zh-CN" sz="2000" err="1">
                <a:latin typeface="Arial"/>
                <a:cs typeface="Arial"/>
              </a:rPr>
              <a:t>τικές</a:t>
            </a:r>
            <a:r>
              <a:rPr lang="en-US" altLang="zh-CN" sz="2000">
                <a:latin typeface="Arial"/>
                <a:cs typeface="Arial"/>
              </a:rPr>
              <a:t> π</a:t>
            </a:r>
            <a:r>
              <a:rPr lang="en-US" altLang="zh-CN" sz="2000" err="1">
                <a:latin typeface="Arial"/>
                <a:cs typeface="Arial"/>
              </a:rPr>
              <a:t>ράξεις</a:t>
            </a:r>
            <a:r>
              <a:rPr lang="en-US" altLang="zh-CN" sz="2000">
                <a:latin typeface="Arial"/>
                <a:cs typeface="Arial"/>
              </a:rPr>
              <a:t> και </a:t>
            </a:r>
            <a:r>
              <a:rPr lang="en-US" altLang="zh-CN" sz="2000" err="1">
                <a:latin typeface="Arial"/>
                <a:cs typeface="Arial"/>
              </a:rPr>
              <a:t>δι</a:t>
            </a:r>
            <a:r>
              <a:rPr lang="en-US" altLang="zh-CN" sz="2000">
                <a:latin typeface="Arial"/>
                <a:cs typeface="Arial"/>
              </a:rPr>
              <a:t>α</a:t>
            </a:r>
            <a:r>
              <a:rPr lang="en-US" altLang="zh-CN" sz="2000" err="1">
                <a:latin typeface="Arial"/>
                <a:cs typeface="Arial"/>
              </a:rPr>
              <a:t>θέτει</a:t>
            </a:r>
            <a:r>
              <a:rPr lang="en-US" altLang="zh-CN" sz="2000">
                <a:latin typeface="Arial"/>
                <a:cs typeface="Arial"/>
              </a:rPr>
              <a:t> π</a:t>
            </a:r>
            <a:r>
              <a:rPr lang="en-US" altLang="zh-CN" sz="2000" err="1">
                <a:latin typeface="Arial"/>
                <a:cs typeface="Arial"/>
              </a:rPr>
              <a:t>ιο</a:t>
            </a:r>
            <a:r>
              <a:rPr lang="en-US" altLang="zh-CN" sz="2000">
                <a:latin typeface="Arial"/>
                <a:cs typeface="Arial"/>
              </a:rPr>
              <a:t> π</a:t>
            </a:r>
            <a:r>
              <a:rPr lang="en-US" altLang="zh-CN" sz="2000" err="1">
                <a:latin typeface="Arial"/>
                <a:cs typeface="Arial"/>
              </a:rPr>
              <a:t>ροχωρημένες</a:t>
            </a:r>
            <a:r>
              <a:rPr lang="en-US" altLang="zh-CN" sz="2000">
                <a:latin typeface="Arial"/>
                <a:cs typeface="Arial"/>
              </a:rPr>
              <a:t> </a:t>
            </a:r>
            <a:r>
              <a:rPr lang="en-US" altLang="zh-CN" sz="2000" err="1">
                <a:latin typeface="Arial"/>
                <a:cs typeface="Arial"/>
              </a:rPr>
              <a:t>λειτουργίες</a:t>
            </a:r>
            <a:r>
              <a:rPr lang="en-US" altLang="zh-CN" sz="2000">
                <a:latin typeface="Arial"/>
                <a:cs typeface="Arial"/>
              </a:rPr>
              <a:t> από </a:t>
            </a:r>
            <a:r>
              <a:rPr lang="en-US" altLang="zh-CN" sz="2000" err="1">
                <a:latin typeface="Arial"/>
                <a:cs typeface="Arial"/>
              </a:rPr>
              <a:t>έν</a:t>
            </a:r>
            <a:r>
              <a:rPr lang="en-US" altLang="zh-CN" sz="2000">
                <a:latin typeface="Arial"/>
                <a:cs typeface="Arial"/>
              </a:rPr>
              <a:t>α απ</a:t>
            </a:r>
            <a:r>
              <a:rPr lang="en-US" altLang="zh-CN" sz="2000" err="1">
                <a:latin typeface="Arial"/>
                <a:cs typeface="Arial"/>
              </a:rPr>
              <a:t>λό</a:t>
            </a:r>
            <a:r>
              <a:rPr lang="en-US" altLang="zh-CN" sz="2000">
                <a:latin typeface="Arial"/>
                <a:cs typeface="Arial"/>
              </a:rPr>
              <a:t> </a:t>
            </a:r>
            <a:r>
              <a:rPr lang="en-US" altLang="zh-CN" sz="2000" err="1">
                <a:latin typeface="Arial"/>
                <a:cs typeface="Arial"/>
              </a:rPr>
              <a:t>κομ</a:t>
            </a:r>
            <a:r>
              <a:rPr lang="en-US" altLang="zh-CN" sz="2000">
                <a:latin typeface="Arial"/>
                <a:cs typeface="Arial"/>
              </a:rPr>
              <a:t>π</a:t>
            </a:r>
            <a:r>
              <a:rPr lang="en-US" altLang="zh-CN" sz="2000" err="1">
                <a:latin typeface="Arial"/>
                <a:cs typeface="Arial"/>
              </a:rPr>
              <a:t>ιουτεράκι</a:t>
            </a:r>
            <a:r>
              <a:rPr lang="en-US" altLang="zh-CN" sz="2000">
                <a:latin typeface="Arial"/>
                <a:cs typeface="Arial"/>
              </a:rPr>
              <a:t>. </a:t>
            </a:r>
            <a:r>
              <a:rPr lang="en-US" sz="1900">
                <a:latin typeface="Arial"/>
                <a:cs typeface="Arial"/>
              </a:rPr>
              <a:t>Η πα</a:t>
            </a:r>
            <a:r>
              <a:rPr lang="en-US" sz="1900" err="1">
                <a:latin typeface="Arial"/>
                <a:cs typeface="Arial"/>
              </a:rPr>
              <a:t>ρούσ</a:t>
            </a:r>
            <a:r>
              <a:rPr lang="en-US" sz="1900">
                <a:latin typeface="Arial"/>
                <a:cs typeface="Arial"/>
              </a:rPr>
              <a:t>α π</a:t>
            </a:r>
            <a:r>
              <a:rPr lang="en-US" sz="1900" err="1">
                <a:latin typeface="Arial"/>
                <a:cs typeface="Arial"/>
              </a:rPr>
              <a:t>τυχι</a:t>
            </a:r>
            <a:r>
              <a:rPr lang="en-US" sz="1900">
                <a:latin typeface="Arial"/>
                <a:cs typeface="Arial"/>
              </a:rPr>
              <a:t>α</a:t>
            </a:r>
            <a:r>
              <a:rPr lang="en-US" sz="1900" err="1">
                <a:latin typeface="Arial"/>
                <a:cs typeface="Arial"/>
              </a:rPr>
              <a:t>κή</a:t>
            </a:r>
            <a:r>
              <a:rPr lang="en-US" sz="1900">
                <a:latin typeface="Arial"/>
                <a:cs typeface="Arial"/>
              </a:rPr>
              <a:t> </a:t>
            </a:r>
            <a:r>
              <a:rPr lang="en-US" sz="1900" err="1">
                <a:latin typeface="Arial"/>
                <a:cs typeface="Arial"/>
              </a:rPr>
              <a:t>εργ</a:t>
            </a:r>
            <a:r>
              <a:rPr lang="en-US" sz="1900">
                <a:latin typeface="Arial"/>
                <a:cs typeface="Arial"/>
              </a:rPr>
              <a:t>α</a:t>
            </a:r>
            <a:r>
              <a:rPr lang="en-US" sz="1900" err="1">
                <a:latin typeface="Arial"/>
                <a:cs typeface="Arial"/>
              </a:rPr>
              <a:t>σί</a:t>
            </a:r>
            <a:r>
              <a:rPr lang="en-US" sz="1900">
                <a:latin typeface="Arial"/>
                <a:cs typeface="Arial"/>
              </a:rPr>
              <a:t>α επ</a:t>
            </a:r>
            <a:r>
              <a:rPr lang="en-US" sz="1900" err="1">
                <a:latin typeface="Arial"/>
                <a:cs typeface="Arial"/>
              </a:rPr>
              <a:t>ικεντρώνετ</a:t>
            </a:r>
            <a:r>
              <a:rPr lang="en-US" sz="1900">
                <a:latin typeface="Arial"/>
                <a:cs typeface="Arial"/>
              </a:rPr>
              <a:t>αι </a:t>
            </a:r>
            <a:r>
              <a:rPr lang="en-US" sz="1900" err="1">
                <a:latin typeface="Arial"/>
                <a:cs typeface="Arial"/>
              </a:rPr>
              <a:t>στο</a:t>
            </a:r>
            <a:r>
              <a:rPr lang="en-US" sz="1900">
                <a:latin typeface="Arial"/>
                <a:cs typeface="Arial"/>
              </a:rPr>
              <a:t> </a:t>
            </a:r>
            <a:r>
              <a:rPr lang="en-US" sz="1900" err="1">
                <a:latin typeface="Arial"/>
                <a:cs typeface="Arial"/>
              </a:rPr>
              <a:t>σχεδι</a:t>
            </a:r>
            <a:r>
              <a:rPr lang="en-US" sz="1900">
                <a:latin typeface="Arial"/>
                <a:cs typeface="Arial"/>
              </a:rPr>
              <a:t>α</a:t>
            </a:r>
            <a:r>
              <a:rPr lang="en-US" sz="1900" err="1">
                <a:latin typeface="Arial"/>
                <a:cs typeface="Arial"/>
              </a:rPr>
              <a:t>σμό</a:t>
            </a:r>
            <a:r>
              <a:rPr lang="en-US" sz="1900">
                <a:latin typeface="Arial"/>
                <a:cs typeface="Arial"/>
              </a:rPr>
              <a:t> και </a:t>
            </a:r>
            <a:r>
              <a:rPr lang="en-US" sz="1900" err="1">
                <a:latin typeface="Arial"/>
                <a:cs typeface="Arial"/>
              </a:rPr>
              <a:t>στην</a:t>
            </a:r>
            <a:r>
              <a:rPr lang="en-US" sz="1900">
                <a:latin typeface="Arial"/>
                <a:cs typeface="Arial"/>
              </a:rPr>
              <a:t> α</a:t>
            </a:r>
            <a:r>
              <a:rPr lang="en-US" sz="1900" err="1">
                <a:latin typeface="Arial"/>
                <a:cs typeface="Arial"/>
              </a:rPr>
              <a:t>νά</a:t>
            </a:r>
            <a:r>
              <a:rPr lang="en-US" sz="1900">
                <a:latin typeface="Arial"/>
                <a:cs typeface="Arial"/>
              </a:rPr>
              <a:t>π</a:t>
            </a:r>
            <a:r>
              <a:rPr lang="en-US" sz="1900" err="1">
                <a:latin typeface="Arial"/>
                <a:cs typeface="Arial"/>
              </a:rPr>
              <a:t>τυξη</a:t>
            </a:r>
            <a:r>
              <a:rPr lang="en-US" sz="1900">
                <a:latin typeface="Arial"/>
                <a:cs typeface="Arial"/>
              </a:rPr>
              <a:t> </a:t>
            </a:r>
            <a:r>
              <a:rPr lang="en-US" sz="1900" err="1">
                <a:latin typeface="Arial"/>
                <a:cs typeface="Arial"/>
              </a:rPr>
              <a:t>γι</a:t>
            </a:r>
            <a:r>
              <a:rPr lang="en-US" sz="1900">
                <a:latin typeface="Arial"/>
                <a:cs typeface="Arial"/>
              </a:rPr>
              <a:t>α </a:t>
            </a:r>
            <a:r>
              <a:rPr lang="en-US" sz="1900" err="1">
                <a:latin typeface="Arial"/>
                <a:cs typeface="Arial"/>
              </a:rPr>
              <a:t>έν</a:t>
            </a:r>
            <a:r>
              <a:rPr lang="en-US" sz="1900">
                <a:latin typeface="Arial"/>
                <a:cs typeface="Arial"/>
              </a:rPr>
              <a:t>α επ</a:t>
            </a:r>
            <a:r>
              <a:rPr lang="en-US" sz="1900" err="1">
                <a:latin typeface="Arial"/>
                <a:cs typeface="Arial"/>
              </a:rPr>
              <a:t>ιστημονικό</a:t>
            </a:r>
            <a:r>
              <a:rPr lang="en-US" sz="1900">
                <a:latin typeface="Arial"/>
                <a:cs typeface="Arial"/>
              </a:rPr>
              <a:t> </a:t>
            </a:r>
            <a:r>
              <a:rPr lang="en-US" sz="1900" err="1">
                <a:latin typeface="Arial"/>
                <a:cs typeface="Arial"/>
              </a:rPr>
              <a:t>κομ</a:t>
            </a:r>
            <a:r>
              <a:rPr lang="en-US" sz="1900">
                <a:latin typeface="Arial"/>
                <a:cs typeface="Arial"/>
              </a:rPr>
              <a:t>π</a:t>
            </a:r>
            <a:r>
              <a:rPr lang="en-US" sz="1900" err="1">
                <a:latin typeface="Arial"/>
                <a:cs typeface="Arial"/>
              </a:rPr>
              <a:t>ιουτεράκι</a:t>
            </a:r>
            <a:r>
              <a:rPr lang="en-US" sz="1900">
                <a:latin typeface="Arial"/>
                <a:cs typeface="Arial"/>
              </a:rPr>
              <a:t>. </a:t>
            </a:r>
            <a:r>
              <a:rPr lang="en-US" altLang="zh-CN" sz="2000">
                <a:latin typeface="Arial"/>
                <a:cs typeface="Arial"/>
              </a:rPr>
              <a:t> </a:t>
            </a:r>
            <a:endParaRPr lang="en-US" altLang="zh-CN" sz="2000">
              <a:latin typeface="Arial"/>
              <a:ea typeface="Segoe UI Black"/>
              <a:cs typeface="Arial"/>
            </a:endParaRPr>
          </a:p>
          <a:p>
            <a:r>
              <a:rPr lang="en-US" altLang="zh-CN" sz="2000">
                <a:latin typeface="Arial"/>
                <a:cs typeface="Arial"/>
              </a:rPr>
              <a:t> </a:t>
            </a:r>
            <a:r>
              <a:rPr lang="en-US" altLang="zh-CN" sz="2000" err="1">
                <a:latin typeface="Arial"/>
                <a:cs typeface="Arial"/>
              </a:rPr>
              <a:t>Κά</a:t>
            </a:r>
            <a:r>
              <a:rPr lang="en-US" altLang="zh-CN" sz="2000">
                <a:latin typeface="Arial"/>
                <a:cs typeface="Arial"/>
              </a:rPr>
              <a:t>π</a:t>
            </a:r>
            <a:r>
              <a:rPr lang="en-US" altLang="zh-CN" sz="2000" err="1">
                <a:latin typeface="Arial"/>
                <a:cs typeface="Arial"/>
              </a:rPr>
              <a:t>οιες</a:t>
            </a:r>
            <a:r>
              <a:rPr lang="en-US" altLang="zh-CN" sz="2000">
                <a:latin typeface="Arial"/>
                <a:cs typeface="Arial"/>
              </a:rPr>
              <a:t> από </a:t>
            </a:r>
            <a:r>
              <a:rPr lang="en-US" altLang="zh-CN" sz="2000" err="1">
                <a:latin typeface="Arial"/>
                <a:cs typeface="Arial"/>
              </a:rPr>
              <a:t>τις</a:t>
            </a:r>
            <a:r>
              <a:rPr lang="en-US" altLang="zh-CN" sz="2000">
                <a:latin typeface="Arial"/>
                <a:cs typeface="Arial"/>
              </a:rPr>
              <a:t> π</a:t>
            </a:r>
            <a:r>
              <a:rPr lang="en-US" altLang="zh-CN" sz="2000" err="1">
                <a:latin typeface="Arial"/>
                <a:cs typeface="Arial"/>
              </a:rPr>
              <a:t>ροχωρημένες</a:t>
            </a:r>
            <a:r>
              <a:rPr lang="en-US" altLang="zh-CN" sz="2000">
                <a:latin typeface="Arial"/>
                <a:cs typeface="Arial"/>
              </a:rPr>
              <a:t> </a:t>
            </a:r>
            <a:r>
              <a:rPr lang="en-US" altLang="zh-CN" sz="2000" err="1">
                <a:latin typeface="Arial"/>
                <a:cs typeface="Arial"/>
              </a:rPr>
              <a:t>λειτουργίες</a:t>
            </a:r>
            <a:r>
              <a:rPr lang="en-US" altLang="zh-CN" sz="2000">
                <a:latin typeface="Arial"/>
                <a:cs typeface="Arial"/>
              </a:rPr>
              <a:t> </a:t>
            </a:r>
            <a:r>
              <a:rPr lang="en-US" altLang="zh-CN" sz="2000" err="1">
                <a:latin typeface="Arial"/>
                <a:cs typeface="Arial"/>
              </a:rPr>
              <a:t>είν</a:t>
            </a:r>
            <a:r>
              <a:rPr lang="en-US" altLang="zh-CN" sz="2000">
                <a:latin typeface="Arial"/>
                <a:cs typeface="Arial"/>
              </a:rPr>
              <a:t>αι </a:t>
            </a:r>
            <a:r>
              <a:rPr lang="en-US" altLang="zh-CN" sz="2000" err="1">
                <a:latin typeface="Arial"/>
                <a:cs typeface="Arial"/>
              </a:rPr>
              <a:t>οι</a:t>
            </a:r>
            <a:r>
              <a:rPr lang="en-US" altLang="zh-CN" sz="2000">
                <a:latin typeface="Arial"/>
                <a:cs typeface="Arial"/>
              </a:rPr>
              <a:t> </a:t>
            </a:r>
            <a:r>
              <a:rPr lang="en-US" altLang="zh-CN" sz="2000" err="1">
                <a:latin typeface="Arial"/>
                <a:cs typeface="Arial"/>
              </a:rPr>
              <a:t>εξής</a:t>
            </a:r>
            <a:r>
              <a:rPr lang="en-US" altLang="zh-CN" sz="2000">
                <a:latin typeface="Arial"/>
                <a:cs typeface="Arial"/>
              </a:rPr>
              <a:t>:</a:t>
            </a:r>
            <a:endParaRPr lang="en-US" altLang="zh-CN" sz="2000">
              <a:latin typeface="Arial"/>
              <a:ea typeface="Segoe UI Black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err="1">
                <a:latin typeface="Arial"/>
                <a:cs typeface="Arial"/>
              </a:rPr>
              <a:t>Τριγωνομετρί</a:t>
            </a:r>
            <a:r>
              <a:rPr lang="en-US" altLang="zh-CN" sz="2000">
                <a:latin typeface="Arial"/>
                <a:cs typeface="Arial"/>
              </a:rPr>
              <a:t>α.</a:t>
            </a:r>
            <a:endParaRPr lang="en-US" altLang="zh-CN" sz="2000">
              <a:latin typeface="Arial"/>
              <a:ea typeface="Segoe UI Black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err="1">
                <a:latin typeface="Arial"/>
                <a:cs typeface="Arial"/>
              </a:rPr>
              <a:t>Λογάριθμοι</a:t>
            </a:r>
            <a:r>
              <a:rPr lang="en-US" altLang="zh-CN" sz="2000">
                <a:latin typeface="Arial"/>
                <a:cs typeface="Arial"/>
              </a:rPr>
              <a:t>.</a:t>
            </a:r>
            <a:endParaRPr lang="en-US" altLang="zh-CN" sz="2000">
              <a:latin typeface="Arial"/>
              <a:ea typeface="Segoe UI Black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err="1">
                <a:latin typeface="Arial"/>
                <a:cs typeface="Arial"/>
              </a:rPr>
              <a:t>Χρήση</a:t>
            </a:r>
            <a:r>
              <a:rPr lang="en-US" altLang="zh-CN" sz="2000">
                <a:latin typeface="Arial"/>
                <a:cs typeface="Arial"/>
              </a:rPr>
              <a:t> </a:t>
            </a:r>
            <a:r>
              <a:rPr lang="en-US" altLang="zh-CN" sz="2000" err="1">
                <a:latin typeface="Arial"/>
                <a:cs typeface="Arial"/>
              </a:rPr>
              <a:t>στ</a:t>
            </a:r>
            <a:r>
              <a:rPr lang="en-US" altLang="zh-CN" sz="2000">
                <a:latin typeface="Arial"/>
                <a:cs typeface="Arial"/>
              </a:rPr>
              <a:t>α</a:t>
            </a:r>
            <a:r>
              <a:rPr lang="en-US" altLang="zh-CN" sz="2000" err="1">
                <a:latin typeface="Arial"/>
                <a:cs typeface="Arial"/>
              </a:rPr>
              <a:t>θερών</a:t>
            </a:r>
            <a:r>
              <a:rPr lang="en-US" altLang="zh-CN" sz="2000">
                <a:latin typeface="Arial"/>
                <a:cs typeface="Arial"/>
              </a:rPr>
              <a:t> (π,χ, </a:t>
            </a:r>
            <a:r>
              <a:rPr lang="en-US" altLang="zh-CN" sz="2000" err="1">
                <a:latin typeface="Arial"/>
                <a:cs typeface="Arial"/>
              </a:rPr>
              <a:t>στ</a:t>
            </a:r>
            <a:r>
              <a:rPr lang="en-US" altLang="zh-CN" sz="2000">
                <a:latin typeface="Arial"/>
                <a:cs typeface="Arial"/>
              </a:rPr>
              <a:t>α</a:t>
            </a:r>
            <a:r>
              <a:rPr lang="en-US" altLang="zh-CN" sz="2000" err="1">
                <a:latin typeface="Arial"/>
                <a:cs typeface="Arial"/>
              </a:rPr>
              <a:t>θερά</a:t>
            </a:r>
            <a:r>
              <a:rPr lang="en-US" altLang="zh-CN" sz="2000">
                <a:latin typeface="Arial"/>
                <a:cs typeface="Arial"/>
              </a:rPr>
              <a:t> </a:t>
            </a:r>
            <a:r>
              <a:rPr lang="en-US" altLang="zh-CN" sz="2000" err="1">
                <a:latin typeface="Arial"/>
                <a:cs typeface="Arial"/>
              </a:rPr>
              <a:t>της</a:t>
            </a:r>
            <a:r>
              <a:rPr lang="en-US" altLang="zh-CN" sz="2000">
                <a:latin typeface="Arial"/>
                <a:cs typeface="Arial"/>
              </a:rPr>
              <a:t> βα</a:t>
            </a:r>
            <a:r>
              <a:rPr lang="en-US" altLang="zh-CN" sz="2000" err="1">
                <a:latin typeface="Arial"/>
                <a:cs typeface="Arial"/>
              </a:rPr>
              <a:t>ρύτητ</a:t>
            </a:r>
            <a:r>
              <a:rPr lang="en-US" altLang="zh-CN" sz="2000">
                <a:latin typeface="Arial"/>
                <a:cs typeface="Arial"/>
              </a:rPr>
              <a:t>ας -g, κ.α.).</a:t>
            </a:r>
            <a:endParaRPr lang="en-US" altLang="zh-CN" sz="2000">
              <a:latin typeface="Arial"/>
              <a:ea typeface="Segoe UI Black"/>
              <a:cs typeface="Arial"/>
            </a:endParaRPr>
          </a:p>
          <a:p>
            <a:endParaRPr lang="en-GB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9364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0A5FCB0-071C-B7B3-87D0-C6E41B8AC40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68575" y="1438373"/>
            <a:ext cx="10759473" cy="3826968"/>
          </a:xfrm>
        </p:spPr>
        <p:txBody>
          <a:bodyPr vert="horz" lIns="0" tIns="0" rIns="0" bIns="0" rtlCol="0" anchor="t">
            <a:noAutofit/>
          </a:bodyPr>
          <a:lstStyle/>
          <a:p>
            <a:pPr algn="l"/>
            <a:r>
              <a:rPr lang="en-US" sz="2400">
                <a:cs typeface="Arial"/>
              </a:rPr>
              <a:t> Η ύπα</a:t>
            </a:r>
            <a:r>
              <a:rPr lang="en-US" sz="2400" err="1">
                <a:cs typeface="Arial"/>
              </a:rPr>
              <a:t>ρξη</a:t>
            </a:r>
            <a:r>
              <a:rPr lang="en-US" sz="2400">
                <a:cs typeface="Arial"/>
              </a:rPr>
              <a:t> επ</a:t>
            </a:r>
            <a:r>
              <a:rPr lang="en-US" sz="2400" err="1">
                <a:cs typeface="Arial"/>
              </a:rPr>
              <a:t>ιστημονικής</a:t>
            </a:r>
            <a:r>
              <a:rPr lang="en-US" sz="2400">
                <a:cs typeface="Arial"/>
              </a:rPr>
              <a:t> α</a:t>
            </a:r>
            <a:r>
              <a:rPr lang="en-US" sz="2400" err="1">
                <a:cs typeface="Arial"/>
              </a:rPr>
              <a:t>ριθμομηχ</a:t>
            </a:r>
            <a:r>
              <a:rPr lang="en-US" sz="2400">
                <a:cs typeface="Arial"/>
              </a:rPr>
              <a:t>α</a:t>
            </a:r>
            <a:r>
              <a:rPr lang="en-US" sz="2400" err="1">
                <a:cs typeface="Arial"/>
              </a:rPr>
              <a:t>νής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στις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μέρες</a:t>
            </a:r>
            <a:r>
              <a:rPr lang="en-US" sz="2400">
                <a:cs typeface="Arial"/>
              </a:rPr>
              <a:t> μας, </a:t>
            </a:r>
            <a:r>
              <a:rPr lang="en-US" sz="2400" err="1">
                <a:cs typeface="Arial"/>
              </a:rPr>
              <a:t>είν</a:t>
            </a:r>
            <a:r>
              <a:rPr lang="en-US" sz="2400">
                <a:cs typeface="Arial"/>
              </a:rPr>
              <a:t>αι </a:t>
            </a:r>
            <a:r>
              <a:rPr lang="en-US" sz="2400" err="1">
                <a:cs typeface="Arial"/>
              </a:rPr>
              <a:t>εξ</a:t>
            </a:r>
            <a:r>
              <a:rPr lang="en-US" sz="2400">
                <a:cs typeface="Arial"/>
              </a:rPr>
              <a:t>α</a:t>
            </a:r>
            <a:r>
              <a:rPr lang="en-US" sz="2400" err="1">
                <a:cs typeface="Arial"/>
              </a:rPr>
              <a:t>ιρετικά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κομ</a:t>
            </a:r>
            <a:r>
              <a:rPr lang="en-US" sz="2400">
                <a:cs typeface="Arial"/>
              </a:rPr>
              <a:t>β</a:t>
            </a:r>
            <a:r>
              <a:rPr lang="en-US" sz="2400" err="1">
                <a:cs typeface="Arial"/>
              </a:rPr>
              <a:t>ική</a:t>
            </a:r>
            <a:r>
              <a:rPr lang="en-US" sz="2400">
                <a:cs typeface="Arial"/>
              </a:rPr>
              <a:t> κα</a:t>
            </a:r>
            <a:r>
              <a:rPr lang="en-US" sz="2400" err="1">
                <a:cs typeface="Arial"/>
              </a:rPr>
              <a:t>θώς</a:t>
            </a:r>
            <a:r>
              <a:rPr lang="en-US" sz="2400">
                <a:cs typeface="Arial"/>
              </a:rPr>
              <a:t> π</a:t>
            </a:r>
            <a:r>
              <a:rPr lang="en-US" sz="2400" err="1">
                <a:cs typeface="Arial"/>
              </a:rPr>
              <a:t>ροσφέρει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δυν</a:t>
            </a:r>
            <a:r>
              <a:rPr lang="en-US" sz="2400">
                <a:cs typeface="Arial"/>
              </a:rPr>
              <a:t>α</a:t>
            </a:r>
            <a:r>
              <a:rPr lang="en-US" sz="2400" err="1">
                <a:cs typeface="Arial"/>
              </a:rPr>
              <a:t>τότητες</a:t>
            </a:r>
            <a:r>
              <a:rPr lang="en-US" sz="2400">
                <a:cs typeface="Arial"/>
              </a:rPr>
              <a:t> όπ</a:t>
            </a:r>
            <a:r>
              <a:rPr lang="en-US" sz="2400" err="1">
                <a:cs typeface="Arial"/>
              </a:rPr>
              <a:t>ως</a:t>
            </a:r>
            <a:r>
              <a:rPr lang="en-US" sz="2400">
                <a:cs typeface="Arial"/>
              </a:rPr>
              <a:t>:</a:t>
            </a:r>
          </a:p>
          <a:p>
            <a:pPr marL="342900" indent="-342900" algn="l">
              <a:buChar char="•"/>
            </a:pPr>
            <a:r>
              <a:rPr lang="en-US" sz="2400">
                <a:cs typeface="Arial"/>
              </a:rPr>
              <a:t>Υπ</a:t>
            </a:r>
            <a:r>
              <a:rPr lang="en-US" sz="2400" err="1">
                <a:cs typeface="Arial"/>
              </a:rPr>
              <a:t>ολογισμούς</a:t>
            </a:r>
            <a:r>
              <a:rPr lang="en-US" sz="2400">
                <a:cs typeface="Arial"/>
              </a:rPr>
              <a:t> επ</a:t>
            </a:r>
            <a:r>
              <a:rPr lang="en-US" sz="2400" err="1">
                <a:cs typeface="Arial"/>
              </a:rPr>
              <a:t>ιστημονικούς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οι</a:t>
            </a:r>
            <a:r>
              <a:rPr lang="en-US" sz="2400">
                <a:cs typeface="Arial"/>
              </a:rPr>
              <a:t> οπ</a:t>
            </a:r>
            <a:r>
              <a:rPr lang="en-US" sz="2400" err="1">
                <a:cs typeface="Arial"/>
              </a:rPr>
              <a:t>οίοι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είν</a:t>
            </a:r>
            <a:r>
              <a:rPr lang="en-US" sz="2400">
                <a:cs typeface="Arial"/>
              </a:rPr>
              <a:t>αι </a:t>
            </a:r>
            <a:r>
              <a:rPr lang="en-US" sz="2400" err="1">
                <a:cs typeface="Arial"/>
              </a:rPr>
              <a:t>κρίσιμοι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γι</a:t>
            </a:r>
            <a:r>
              <a:rPr lang="en-US" sz="2400">
                <a:cs typeface="Arial"/>
              </a:rPr>
              <a:t>α </a:t>
            </a:r>
            <a:r>
              <a:rPr lang="en-US" sz="2400" err="1">
                <a:cs typeface="Arial"/>
              </a:rPr>
              <a:t>φοιτητές</a:t>
            </a:r>
            <a:r>
              <a:rPr lang="en-US" sz="2400">
                <a:cs typeface="Arial"/>
              </a:rPr>
              <a:t>, κα</a:t>
            </a:r>
            <a:r>
              <a:rPr lang="en-US" sz="2400" err="1">
                <a:cs typeface="Arial"/>
              </a:rPr>
              <a:t>θηγητές</a:t>
            </a:r>
            <a:r>
              <a:rPr lang="en-US" sz="2400">
                <a:cs typeface="Arial"/>
              </a:rPr>
              <a:t>, επ</a:t>
            </a:r>
            <a:r>
              <a:rPr lang="en-US" sz="2400" err="1">
                <a:cs typeface="Arial"/>
              </a:rPr>
              <a:t>ιστήμονες</a:t>
            </a:r>
            <a:r>
              <a:rPr lang="en-US" sz="2400">
                <a:cs typeface="Arial"/>
              </a:rPr>
              <a:t> και </a:t>
            </a:r>
            <a:r>
              <a:rPr lang="en-US" sz="2400" err="1">
                <a:cs typeface="Arial"/>
              </a:rPr>
              <a:t>μηχ</a:t>
            </a:r>
            <a:r>
              <a:rPr lang="en-US" sz="2400">
                <a:cs typeface="Arial"/>
              </a:rPr>
              <a:t>α</a:t>
            </a:r>
            <a:r>
              <a:rPr lang="en-US" sz="2400" err="1">
                <a:cs typeface="Arial"/>
              </a:rPr>
              <a:t>νικούς</a:t>
            </a:r>
            <a:r>
              <a:rPr lang="en-US" sz="2400">
                <a:cs typeface="Arial"/>
              </a:rPr>
              <a:t>.</a:t>
            </a:r>
          </a:p>
          <a:p>
            <a:pPr marL="342900" indent="-342900" algn="l">
              <a:buChar char="•"/>
            </a:pPr>
            <a:r>
              <a:rPr lang="en-US" sz="2400" err="1">
                <a:cs typeface="Arial"/>
              </a:rPr>
              <a:t>Ευελιξί</a:t>
            </a:r>
            <a:r>
              <a:rPr lang="en-US" sz="2400">
                <a:cs typeface="Arial"/>
              </a:rPr>
              <a:t>α και επ</a:t>
            </a:r>
            <a:r>
              <a:rPr lang="en-US" sz="2400" err="1">
                <a:cs typeface="Arial"/>
              </a:rPr>
              <a:t>εκτ</a:t>
            </a:r>
            <a:r>
              <a:rPr lang="en-US" sz="2400">
                <a:cs typeface="Arial"/>
              </a:rPr>
              <a:t>α</a:t>
            </a:r>
            <a:r>
              <a:rPr lang="en-US" sz="2400" err="1">
                <a:cs typeface="Arial"/>
              </a:rPr>
              <a:t>σιμότητ</a:t>
            </a:r>
            <a:r>
              <a:rPr lang="en-US" sz="2400">
                <a:cs typeface="Arial"/>
              </a:rPr>
              <a:t>α.</a:t>
            </a:r>
          </a:p>
          <a:p>
            <a:pPr marL="342900" indent="-342900" algn="l">
              <a:buChar char="•"/>
            </a:pPr>
            <a:r>
              <a:rPr lang="en-US" sz="2400" err="1">
                <a:cs typeface="Arial"/>
              </a:rPr>
              <a:t>Συνδυ</a:t>
            </a:r>
            <a:r>
              <a:rPr lang="en-US" sz="2400">
                <a:cs typeface="Arial"/>
              </a:rPr>
              <a:t>α</a:t>
            </a:r>
            <a:r>
              <a:rPr lang="en-US" sz="2400" err="1">
                <a:cs typeface="Arial"/>
              </a:rPr>
              <a:t>σμό</a:t>
            </a:r>
            <a:r>
              <a:rPr lang="en-US" sz="2400">
                <a:cs typeface="Arial"/>
              </a:rPr>
              <a:t> τα</a:t>
            </a:r>
            <a:r>
              <a:rPr lang="en-US" sz="2400" err="1">
                <a:cs typeface="Arial"/>
              </a:rPr>
              <a:t>χύτητ</a:t>
            </a:r>
            <a:r>
              <a:rPr lang="en-US" sz="2400">
                <a:cs typeface="Arial"/>
              </a:rPr>
              <a:t>ας, α</a:t>
            </a:r>
            <a:r>
              <a:rPr lang="en-US" sz="2400" err="1">
                <a:cs typeface="Arial"/>
              </a:rPr>
              <a:t>κρί</a:t>
            </a:r>
            <a:r>
              <a:rPr lang="en-US" sz="2400">
                <a:cs typeface="Arial"/>
              </a:rPr>
              <a:t>β</a:t>
            </a:r>
            <a:r>
              <a:rPr lang="en-US" sz="2400" err="1">
                <a:cs typeface="Arial"/>
              </a:rPr>
              <a:t>ει</a:t>
            </a:r>
            <a:r>
              <a:rPr lang="en-US" sz="2400">
                <a:cs typeface="Arial"/>
              </a:rPr>
              <a:t>ας και </a:t>
            </a:r>
            <a:r>
              <a:rPr lang="en-US" sz="2400" err="1">
                <a:cs typeface="Arial"/>
              </a:rPr>
              <a:t>ευχρηστί</a:t>
            </a:r>
            <a:r>
              <a:rPr lang="en-US" sz="2400">
                <a:cs typeface="Arial"/>
              </a:rPr>
              <a:t>ας.</a:t>
            </a:r>
          </a:p>
          <a:p>
            <a:pPr algn="l"/>
            <a:r>
              <a:rPr lang="en-US" sz="2400">
                <a:cs typeface="Arial"/>
              </a:rPr>
              <a:t> </a:t>
            </a:r>
            <a:r>
              <a:rPr lang="en-US" sz="2400" err="1">
                <a:cs typeface="Arial"/>
              </a:rPr>
              <a:t>Κύριος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σκο</a:t>
            </a:r>
            <a:r>
              <a:rPr lang="en-US" sz="2400">
                <a:cs typeface="Arial"/>
              </a:rPr>
              <a:t>π</a:t>
            </a:r>
            <a:r>
              <a:rPr lang="en-US" sz="2400" err="1">
                <a:cs typeface="Arial"/>
              </a:rPr>
              <a:t>ός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της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εφ</a:t>
            </a:r>
            <a:r>
              <a:rPr lang="en-US" sz="2400">
                <a:cs typeface="Arial"/>
              </a:rPr>
              <a:t>α</a:t>
            </a:r>
            <a:r>
              <a:rPr lang="en-US" sz="2400" err="1">
                <a:cs typeface="Arial"/>
              </a:rPr>
              <a:t>ρμογής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είν</a:t>
            </a:r>
            <a:r>
              <a:rPr lang="en-US" sz="2400">
                <a:cs typeface="Arial"/>
              </a:rPr>
              <a:t>αι η επ</a:t>
            </a:r>
            <a:r>
              <a:rPr lang="en-US" sz="2400" err="1">
                <a:cs typeface="Arial"/>
              </a:rPr>
              <a:t>ίτευξη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του</a:t>
            </a:r>
            <a:r>
              <a:rPr lang="en-US" sz="2400">
                <a:cs typeface="Arial"/>
              </a:rPr>
              <a:t> β</a:t>
            </a:r>
            <a:r>
              <a:rPr lang="en-US" sz="2400" err="1">
                <a:cs typeface="Arial"/>
              </a:rPr>
              <a:t>έλτιστου</a:t>
            </a:r>
            <a:r>
              <a:rPr lang="en-US" sz="2400">
                <a:cs typeface="Arial"/>
              </a:rPr>
              <a:t> απ</a:t>
            </a:r>
            <a:r>
              <a:rPr lang="en-US" sz="2400" err="1">
                <a:cs typeface="Arial"/>
              </a:rPr>
              <a:t>οτελέσμ</a:t>
            </a:r>
            <a:r>
              <a:rPr lang="en-US" sz="2400">
                <a:cs typeface="Arial"/>
              </a:rPr>
              <a:t>α</a:t>
            </a:r>
            <a:r>
              <a:rPr lang="en-US" sz="2400" err="1">
                <a:cs typeface="Arial"/>
              </a:rPr>
              <a:t>τος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με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γνώμον</a:t>
            </a:r>
            <a:r>
              <a:rPr lang="en-US" sz="2400">
                <a:cs typeface="Arial"/>
              </a:rPr>
              <a:t>α </a:t>
            </a:r>
            <a:r>
              <a:rPr lang="en-US" sz="2400" err="1">
                <a:cs typeface="Arial"/>
              </a:rPr>
              <a:t>την</a:t>
            </a:r>
            <a:r>
              <a:rPr lang="en-US" sz="2400">
                <a:cs typeface="Arial"/>
              </a:rPr>
              <a:t> α</a:t>
            </a:r>
            <a:r>
              <a:rPr lang="en-US" sz="2400" err="1">
                <a:cs typeface="Arial"/>
              </a:rPr>
              <a:t>κρί</a:t>
            </a:r>
            <a:r>
              <a:rPr lang="en-US" sz="2400">
                <a:cs typeface="Arial"/>
              </a:rPr>
              <a:t>β</a:t>
            </a:r>
            <a:r>
              <a:rPr lang="en-US" sz="2400" err="1">
                <a:cs typeface="Arial"/>
              </a:rPr>
              <a:t>ει</a:t>
            </a:r>
            <a:r>
              <a:rPr lang="en-US" sz="2400">
                <a:cs typeface="Arial"/>
              </a:rPr>
              <a:t>α </a:t>
            </a:r>
            <a:r>
              <a:rPr lang="en-US" sz="2400" err="1">
                <a:cs typeface="Arial"/>
              </a:rPr>
              <a:t>στις</a:t>
            </a:r>
            <a:r>
              <a:rPr lang="en-US" sz="2400">
                <a:cs typeface="Arial"/>
              </a:rPr>
              <a:t> π</a:t>
            </a:r>
            <a:r>
              <a:rPr lang="en-US" sz="2400" err="1">
                <a:cs typeface="Arial"/>
              </a:rPr>
              <a:t>ράξεις</a:t>
            </a:r>
            <a:r>
              <a:rPr lang="en-US" sz="2400">
                <a:cs typeface="Arial"/>
              </a:rPr>
              <a:t>, </a:t>
            </a:r>
            <a:r>
              <a:rPr lang="en-US" sz="2400" err="1">
                <a:cs typeface="Arial"/>
              </a:rPr>
              <a:t>την</a:t>
            </a:r>
            <a:r>
              <a:rPr lang="en-US" sz="2400">
                <a:cs typeface="Arial"/>
              </a:rPr>
              <a:t> τα</a:t>
            </a:r>
            <a:r>
              <a:rPr lang="en-US" sz="2400" err="1">
                <a:cs typeface="Arial"/>
              </a:rPr>
              <a:t>χύτητ</a:t>
            </a:r>
            <a:r>
              <a:rPr lang="en-US" sz="2400">
                <a:cs typeface="Arial"/>
              </a:rPr>
              <a:t>α και </a:t>
            </a:r>
            <a:r>
              <a:rPr lang="en-US" sz="2400" err="1">
                <a:cs typeface="Arial"/>
              </a:rPr>
              <a:t>τη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λειτουργικότητ</a:t>
            </a:r>
            <a:r>
              <a:rPr lang="en-US" sz="2400">
                <a:cs typeface="Arial"/>
              </a:rPr>
              <a:t>α </a:t>
            </a:r>
            <a:r>
              <a:rPr lang="en-US" sz="2400" err="1">
                <a:cs typeface="Arial"/>
              </a:rPr>
              <a:t>του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κώδικ</a:t>
            </a:r>
            <a:r>
              <a:rPr lang="en-US" sz="2400">
                <a:cs typeface="Arial"/>
              </a:rPr>
              <a:t>α.</a:t>
            </a:r>
          </a:p>
          <a:p>
            <a:pPr marL="342900" indent="-342900" algn="l">
              <a:buChar char="•"/>
            </a:pPr>
            <a:endParaRPr lang="en-US" sz="2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092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68D147-B183-8713-FBA0-D91A36BD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646" y="712864"/>
            <a:ext cx="4664246" cy="810234"/>
          </a:xfrm>
        </p:spPr>
        <p:txBody>
          <a:bodyPr anchor="t">
            <a:normAutofit/>
          </a:bodyPr>
          <a:lstStyle/>
          <a:p>
            <a:r>
              <a:rPr lang="en-US" altLang="zh-CN" sz="4000" err="1"/>
              <a:t>Στόχοι</a:t>
            </a:r>
            <a:r>
              <a:rPr lang="en-US" altLang="zh-CN" sz="4000"/>
              <a:t> </a:t>
            </a:r>
            <a:r>
              <a:rPr lang="en-US" altLang="zh-CN" sz="4000" err="1"/>
              <a:t>Πτυχι</a:t>
            </a:r>
            <a:r>
              <a:rPr lang="en-US" altLang="zh-CN" sz="4000"/>
              <a:t>α</a:t>
            </a:r>
            <a:r>
              <a:rPr lang="en-US" altLang="zh-CN" sz="4000" err="1"/>
              <a:t>κής</a:t>
            </a:r>
            <a:endParaRPr lang="en-US" altLang="zh-CN" sz="4000" err="1">
              <a:ea typeface="Segoe UI Black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0F5AFE-E02A-A2DF-1811-094A567F6FE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2365" y="716242"/>
            <a:ext cx="831916" cy="59780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2600"/>
              <a:t>02</a:t>
            </a:r>
            <a:endParaRPr lang="zh-CN" altLang="en-US" sz="2600"/>
          </a:p>
        </p:txBody>
      </p:sp>
      <p:pic>
        <p:nvPicPr>
          <p:cNvPr id="6" name="Picture 6" descr="A pen writing on a checklist&#10;&#10;AI-generated content may be incorrect.">
            <a:extLst>
              <a:ext uri="{FF2B5EF4-FFF2-40B4-BE49-F238E27FC236}">
                <a16:creationId xmlns:a16="http://schemas.microsoft.com/office/drawing/2014/main" id="{E729FBF7-C685-D83C-8129-D5317CE5C16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3410" r="13410"/>
          <a:stretch>
            <a:fillRect/>
          </a:stretch>
        </p:blipFill>
        <p:spPr>
          <a:xfrm>
            <a:off x="7939848" y="1306802"/>
            <a:ext cx="3230562" cy="44774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9503A81-4814-6533-E624-D2633DAFA4D6}"/>
              </a:ext>
            </a:extLst>
          </p:cNvPr>
          <p:cNvSpPr txBox="1">
            <a:spLocks/>
          </p:cNvSpPr>
          <p:nvPr/>
        </p:nvSpPr>
        <p:spPr>
          <a:xfrm>
            <a:off x="1019572" y="1884110"/>
            <a:ext cx="6095202" cy="42608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cs typeface="Arial"/>
              </a:rPr>
              <a:t>  Κα</a:t>
            </a:r>
            <a:r>
              <a:rPr lang="en-US" err="1">
                <a:cs typeface="Arial"/>
              </a:rPr>
              <a:t>τά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διάρκει</a:t>
            </a:r>
            <a:r>
              <a:rPr lang="en-US">
                <a:cs typeface="Arial"/>
              </a:rPr>
              <a:t>α α</a:t>
            </a:r>
            <a:r>
              <a:rPr lang="en-US" err="1">
                <a:cs typeface="Arial"/>
              </a:rPr>
              <a:t>νά</a:t>
            </a:r>
            <a:r>
              <a:rPr lang="en-US">
                <a:cs typeface="Arial"/>
              </a:rPr>
              <a:t>π</a:t>
            </a:r>
            <a:r>
              <a:rPr lang="en-US" err="1">
                <a:cs typeface="Arial"/>
              </a:rPr>
              <a:t>τυξης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της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εφ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ρμογής</a:t>
            </a:r>
            <a:r>
              <a:rPr lang="en-US">
                <a:cs typeface="Arial"/>
              </a:rPr>
              <a:t>, επαναπ</a:t>
            </a:r>
            <a:r>
              <a:rPr lang="en-US" err="1">
                <a:cs typeface="Arial"/>
              </a:rPr>
              <a:t>ροσδιορίζοντ</a:t>
            </a:r>
            <a:r>
              <a:rPr lang="en-US">
                <a:cs typeface="Arial"/>
              </a:rPr>
              <a:t>αν </a:t>
            </a:r>
            <a:r>
              <a:rPr lang="en-US" err="1">
                <a:cs typeface="Arial"/>
              </a:rPr>
              <a:t>οι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στόχοι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της</a:t>
            </a:r>
            <a:r>
              <a:rPr lang="en-US">
                <a:cs typeface="Arial"/>
              </a:rPr>
              <a:t>. </a:t>
            </a:r>
            <a:r>
              <a:rPr lang="en-US" err="1">
                <a:cs typeface="Arial"/>
              </a:rPr>
              <a:t>Ως</a:t>
            </a:r>
            <a:r>
              <a:rPr lang="en-US">
                <a:cs typeface="Arial"/>
              </a:rPr>
              <a:t> απ</a:t>
            </a:r>
            <a:r>
              <a:rPr lang="en-US" err="1">
                <a:cs typeface="Arial"/>
              </a:rPr>
              <a:t>οτελέσμ</a:t>
            </a:r>
            <a:r>
              <a:rPr lang="en-US">
                <a:cs typeface="Arial"/>
              </a:rPr>
              <a:t>α </a:t>
            </a:r>
            <a:r>
              <a:rPr lang="en-US" err="1">
                <a:cs typeface="Arial"/>
              </a:rPr>
              <a:t>ήτ</a:t>
            </a:r>
            <a:r>
              <a:rPr lang="en-US">
                <a:cs typeface="Arial"/>
              </a:rPr>
              <a:t>αν να </a:t>
            </a:r>
            <a:r>
              <a:rPr lang="en-US" err="1">
                <a:cs typeface="Arial"/>
              </a:rPr>
              <a:t>ικ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νο</a:t>
            </a:r>
            <a:r>
              <a:rPr lang="en-US">
                <a:cs typeface="Arial"/>
              </a:rPr>
              <a:t>π</a:t>
            </a:r>
            <a:r>
              <a:rPr lang="en-US" err="1">
                <a:cs typeface="Arial"/>
              </a:rPr>
              <a:t>οιηθούν</a:t>
            </a:r>
            <a:r>
              <a:rPr lang="en-US">
                <a:cs typeface="Arial"/>
              </a:rPr>
              <a:t> τα παρα</a:t>
            </a:r>
            <a:r>
              <a:rPr lang="en-US" err="1">
                <a:cs typeface="Arial"/>
              </a:rPr>
              <a:t>κάτω</a:t>
            </a:r>
            <a:r>
              <a:rPr lang="en-US">
                <a:cs typeface="Arial"/>
              </a:rPr>
              <a:t>: </a:t>
            </a:r>
            <a:endParaRPr lang="en-US"/>
          </a:p>
          <a:p>
            <a:pPr marL="342900" indent="-342900"/>
            <a:r>
              <a:rPr lang="en-US" err="1">
                <a:cs typeface="Arial"/>
              </a:rPr>
              <a:t>Ανά</a:t>
            </a:r>
            <a:r>
              <a:rPr lang="en-US">
                <a:cs typeface="Arial"/>
              </a:rPr>
              <a:t>π</a:t>
            </a:r>
            <a:r>
              <a:rPr lang="en-US" err="1">
                <a:cs typeface="Arial"/>
              </a:rPr>
              <a:t>τυξη</a:t>
            </a:r>
            <a:r>
              <a:rPr lang="en-US">
                <a:cs typeface="Arial"/>
              </a:rPr>
              <a:t> επ</a:t>
            </a:r>
            <a:r>
              <a:rPr lang="en-US" err="1">
                <a:cs typeface="Arial"/>
              </a:rPr>
              <a:t>ιστημονικής</a:t>
            </a:r>
            <a:r>
              <a:rPr lang="en-US">
                <a:cs typeface="Arial"/>
              </a:rPr>
              <a:t> α</a:t>
            </a:r>
            <a:r>
              <a:rPr lang="en-US" err="1">
                <a:cs typeface="Arial"/>
              </a:rPr>
              <a:t>ριθμομηχ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νής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με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δυνάτοτητ</a:t>
            </a:r>
            <a:r>
              <a:rPr lang="en-US">
                <a:cs typeface="Arial"/>
              </a:rPr>
              <a:t>α </a:t>
            </a:r>
            <a:r>
              <a:rPr lang="en-US" err="1">
                <a:cs typeface="Arial"/>
              </a:rPr>
              <a:t>εκτέλεσης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σύνθετων</a:t>
            </a:r>
            <a:r>
              <a:rPr lang="en-US">
                <a:cs typeface="Arial"/>
              </a:rPr>
              <a:t> μα</a:t>
            </a:r>
            <a:r>
              <a:rPr lang="en-US" err="1">
                <a:cs typeface="Arial"/>
              </a:rPr>
              <a:t>θημ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τικών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ράξεων</a:t>
            </a:r>
            <a:r>
              <a:rPr lang="en-US">
                <a:cs typeface="Arial"/>
              </a:rPr>
              <a:t>.</a:t>
            </a:r>
          </a:p>
          <a:p>
            <a:pPr marL="342900" indent="-342900"/>
            <a:r>
              <a:rPr lang="en-US" err="1">
                <a:cs typeface="Arial"/>
              </a:rPr>
              <a:t>Εύχρηστο</a:t>
            </a:r>
            <a:r>
              <a:rPr lang="en-US">
                <a:cs typeface="Arial"/>
              </a:rPr>
              <a:t> και </a:t>
            </a:r>
            <a:r>
              <a:rPr lang="en-US" err="1">
                <a:cs typeface="Arial"/>
              </a:rPr>
              <a:t>φιλικό</a:t>
            </a:r>
            <a:r>
              <a:rPr lang="en-US">
                <a:cs typeface="Arial"/>
              </a:rPr>
              <a:t> GUI </a:t>
            </a:r>
            <a:r>
              <a:rPr lang="en-US" err="1">
                <a:cs typeface="Arial"/>
              </a:rPr>
              <a:t>με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χρήση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του</a:t>
            </a:r>
            <a:r>
              <a:rPr lang="en-US">
                <a:cs typeface="Arial"/>
              </a:rPr>
              <a:t> App Designer.</a:t>
            </a:r>
          </a:p>
          <a:p>
            <a:pPr marL="342900" indent="-342900"/>
            <a:r>
              <a:rPr lang="en-US" err="1">
                <a:cs typeface="Arial"/>
              </a:rPr>
              <a:t>Υλο</a:t>
            </a:r>
            <a:r>
              <a:rPr lang="en-US">
                <a:cs typeface="Arial"/>
              </a:rPr>
              <a:t>π</a:t>
            </a:r>
            <a:r>
              <a:rPr lang="en-US" err="1">
                <a:cs typeface="Arial"/>
              </a:rPr>
              <a:t>οίηση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συν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ρτήσεων</a:t>
            </a:r>
            <a:r>
              <a:rPr lang="en-US">
                <a:cs typeface="Arial"/>
              </a:rPr>
              <a:t> όπ</a:t>
            </a:r>
            <a:r>
              <a:rPr lang="en-US" err="1">
                <a:cs typeface="Arial"/>
              </a:rPr>
              <a:t>ως</a:t>
            </a:r>
            <a:r>
              <a:rPr lang="en-US">
                <a:cs typeface="Arial"/>
              </a:rPr>
              <a:t> α</a:t>
            </a:r>
            <a:r>
              <a:rPr lang="en-US" err="1">
                <a:cs typeface="Arial"/>
              </a:rPr>
              <a:t>ριθμητικές</a:t>
            </a:r>
            <a:r>
              <a:rPr lang="en-US">
                <a:cs typeface="Arial"/>
              </a:rPr>
              <a:t>, </a:t>
            </a:r>
            <a:r>
              <a:rPr lang="en-US" err="1">
                <a:cs typeface="Arial"/>
              </a:rPr>
              <a:t>τριγωνομετρικές</a:t>
            </a:r>
            <a:r>
              <a:rPr lang="en-US">
                <a:cs typeface="Arial"/>
              </a:rPr>
              <a:t>, </a:t>
            </a:r>
            <a:r>
              <a:rPr lang="en-US" err="1">
                <a:cs typeface="Arial"/>
              </a:rPr>
              <a:t>λογ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ριθμικές</a:t>
            </a:r>
            <a:r>
              <a:rPr lang="en-US">
                <a:cs typeface="Arial"/>
              </a:rPr>
              <a:t> και </a:t>
            </a:r>
            <a:r>
              <a:rPr lang="en-US" err="1">
                <a:cs typeface="Arial"/>
              </a:rPr>
              <a:t>εκθετικές</a:t>
            </a:r>
            <a:r>
              <a:rPr lang="en-US">
                <a:cs typeface="Arial"/>
              </a:rPr>
              <a:t>.</a:t>
            </a:r>
          </a:p>
          <a:p>
            <a:pPr marL="342900" indent="-342900"/>
            <a:r>
              <a:rPr lang="en-US" err="1">
                <a:cs typeface="Arial"/>
              </a:rPr>
              <a:t>Έμφ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ση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στην</a:t>
            </a:r>
            <a:r>
              <a:rPr lang="en-US">
                <a:cs typeface="Arial"/>
              </a:rPr>
              <a:t> α</a:t>
            </a:r>
            <a:r>
              <a:rPr lang="en-US" err="1">
                <a:cs typeface="Arial"/>
              </a:rPr>
              <a:t>σφάλει</a:t>
            </a:r>
            <a:r>
              <a:rPr lang="en-US">
                <a:cs typeface="Arial"/>
              </a:rPr>
              <a:t>α </a:t>
            </a:r>
            <a:r>
              <a:rPr lang="en-US" err="1">
                <a:cs typeface="Arial"/>
              </a:rPr>
              <a:t>εισόδου</a:t>
            </a:r>
            <a:r>
              <a:rPr lang="en-US">
                <a:cs typeface="Arial"/>
              </a:rPr>
              <a:t> από </a:t>
            </a:r>
            <a:r>
              <a:rPr lang="en-US" err="1">
                <a:cs typeface="Arial"/>
              </a:rPr>
              <a:t>τον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χρήστη</a:t>
            </a:r>
            <a:r>
              <a:rPr lang="en-US">
                <a:cs typeface="Arial"/>
              </a:rPr>
              <a:t> κα</a:t>
            </a:r>
            <a:r>
              <a:rPr lang="en-US" err="1">
                <a:cs typeface="Arial"/>
              </a:rPr>
              <a:t>θώς</a:t>
            </a:r>
            <a:r>
              <a:rPr lang="en-US">
                <a:cs typeface="Arial"/>
              </a:rPr>
              <a:t> και </a:t>
            </a:r>
            <a:r>
              <a:rPr lang="en-US" err="1">
                <a:cs typeface="Arial"/>
              </a:rPr>
              <a:t>εμφάνιση</a:t>
            </a:r>
            <a:r>
              <a:rPr lang="en-US">
                <a:cs typeface="Arial"/>
              </a:rPr>
              <a:t> απ</a:t>
            </a:r>
            <a:r>
              <a:rPr lang="en-US" err="1">
                <a:cs typeface="Arial"/>
              </a:rPr>
              <a:t>ολέσμ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τος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με</a:t>
            </a:r>
            <a:r>
              <a:rPr lang="en-US">
                <a:cs typeface="Arial"/>
              </a:rPr>
              <a:t> α</a:t>
            </a:r>
            <a:r>
              <a:rPr lang="en-US" err="1">
                <a:cs typeface="Arial"/>
              </a:rPr>
              <a:t>κρί</a:t>
            </a:r>
            <a:r>
              <a:rPr lang="en-US">
                <a:cs typeface="Arial"/>
              </a:rPr>
              <a:t>β</a:t>
            </a:r>
            <a:r>
              <a:rPr lang="en-US" err="1">
                <a:cs typeface="Arial"/>
              </a:rPr>
              <a:t>ει</a:t>
            </a:r>
            <a:r>
              <a:rPr lang="en-US">
                <a:cs typeface="Arial"/>
              </a:rPr>
              <a:t>α.</a:t>
            </a:r>
          </a:p>
          <a:p>
            <a:pPr marL="342900" indent="-342900"/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613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53A30A-4B1D-5E9A-F615-38DD081D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294" y="775219"/>
            <a:ext cx="4658141" cy="69722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4000"/>
              <a:t>Επ</a:t>
            </a:r>
            <a:r>
              <a:rPr lang="en-US" sz="4000" err="1"/>
              <a:t>ιλογή</a:t>
            </a:r>
            <a:r>
              <a:rPr lang="en-US" sz="4000"/>
              <a:t> MATLAB</a:t>
            </a:r>
          </a:p>
        </p:txBody>
      </p:sp>
      <p:pic>
        <p:nvPicPr>
          <p:cNvPr id="7" name="Picture Placeholder 6" descr="A red and blue curved object&#10;&#10;AI-generated content may be incorrect.">
            <a:extLst>
              <a:ext uri="{FF2B5EF4-FFF2-40B4-BE49-F238E27FC236}">
                <a16:creationId xmlns:a16="http://schemas.microsoft.com/office/drawing/2014/main" id="{89C32DD0-BD2F-6524-4667-DB5E224F94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195" r="1" b="1"/>
          <a:stretch>
            <a:fillRect/>
          </a:stretch>
        </p:blipFill>
        <p:spPr>
          <a:xfrm>
            <a:off x="8256248" y="778256"/>
            <a:ext cx="2329752" cy="18671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04D3293-2974-2658-7F76-667FF3E589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849837" y="772941"/>
            <a:ext cx="831916" cy="597807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zh-CN" sz="2600" b="1">
                <a:latin typeface="Segoe UI Black"/>
                <a:ea typeface="Segoe UI Black"/>
              </a:rPr>
              <a:t>03</a:t>
            </a:r>
            <a:endParaRPr lang="zh-CN" altLang="en-US" sz="2600">
              <a:latin typeface="Segoe UI Black"/>
              <a:cs typeface="Arial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67C264E-1F75-EA2C-F582-482632BE32FB}"/>
              </a:ext>
            </a:extLst>
          </p:cNvPr>
          <p:cNvSpPr txBox="1">
            <a:spLocks/>
          </p:cNvSpPr>
          <p:nvPr/>
        </p:nvSpPr>
        <p:spPr>
          <a:xfrm>
            <a:off x="849063" y="1709533"/>
            <a:ext cx="5771015" cy="53124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err="1"/>
              <a:t>Γλώσσες</a:t>
            </a:r>
            <a:r>
              <a:rPr lang="en-US" sz="2400"/>
              <a:t> </a:t>
            </a:r>
            <a:r>
              <a:rPr lang="en-US" sz="2400" err="1"/>
              <a:t>Προγρ</a:t>
            </a:r>
            <a:r>
              <a:rPr lang="en-US" sz="2400"/>
              <a:t>α</a:t>
            </a:r>
            <a:r>
              <a:rPr lang="en-US" sz="2400" err="1"/>
              <a:t>μμ</a:t>
            </a:r>
            <a:r>
              <a:rPr lang="en-US" sz="2400"/>
              <a:t>α</a:t>
            </a:r>
            <a:r>
              <a:rPr lang="en-US" sz="2400" err="1"/>
              <a:t>τισμού</a:t>
            </a:r>
            <a:endParaRPr lang="en-GB" sz="2400">
              <a:ea typeface="Segoe UI Black"/>
            </a:endParaRP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63B0166-127B-EE08-1D9B-72DC4374C9EE}"/>
              </a:ext>
            </a:extLst>
          </p:cNvPr>
          <p:cNvSpPr txBox="1">
            <a:spLocks/>
          </p:cNvSpPr>
          <p:nvPr/>
        </p:nvSpPr>
        <p:spPr>
          <a:xfrm>
            <a:off x="847854" y="3158631"/>
            <a:ext cx="9733484" cy="28361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cs typeface="Arial"/>
              </a:rPr>
              <a:t> </a:t>
            </a:r>
            <a:r>
              <a:rPr lang="en-US" err="1">
                <a:cs typeface="Arial"/>
              </a:rPr>
              <a:t>Στις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μέρες</a:t>
            </a:r>
            <a:r>
              <a:rPr lang="en-US">
                <a:cs typeface="Arial"/>
              </a:rPr>
              <a:t> μας υπ</a:t>
            </a:r>
            <a:r>
              <a:rPr lang="en-US" err="1">
                <a:cs typeface="Arial"/>
              </a:rPr>
              <a:t>άρχουν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χιλιάδες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γλώσσες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ρογρ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μμ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τισμού</a:t>
            </a:r>
            <a:r>
              <a:rPr lang="en-US">
                <a:cs typeface="Arial"/>
              </a:rPr>
              <a:t>. </a:t>
            </a:r>
            <a:r>
              <a:rPr lang="en-US" err="1">
                <a:cs typeface="Arial"/>
              </a:rPr>
              <a:t>Έτσι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δίνετ</a:t>
            </a:r>
            <a:r>
              <a:rPr lang="en-US">
                <a:cs typeface="Arial"/>
              </a:rPr>
              <a:t>αι η </a:t>
            </a:r>
            <a:r>
              <a:rPr lang="en-US" err="1">
                <a:cs typeface="Arial"/>
              </a:rPr>
              <a:t>δυν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τότητ</a:t>
            </a:r>
            <a:r>
              <a:rPr lang="en-US">
                <a:cs typeface="Arial"/>
              </a:rPr>
              <a:t>α επ</a:t>
            </a:r>
            <a:r>
              <a:rPr lang="en-US" err="1">
                <a:cs typeface="Arial"/>
              </a:rPr>
              <a:t>ιλογής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με</a:t>
            </a:r>
            <a:r>
              <a:rPr lang="en-US">
                <a:cs typeface="Arial"/>
              </a:rPr>
              <a:t> β</a:t>
            </a:r>
            <a:r>
              <a:rPr lang="en-US" err="1">
                <a:cs typeface="Arial"/>
              </a:rPr>
              <a:t>άση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τις</a:t>
            </a:r>
            <a:r>
              <a:rPr lang="en-US">
                <a:cs typeface="Arial"/>
              </a:rPr>
              <a:t> α</a:t>
            </a:r>
            <a:r>
              <a:rPr lang="en-US" err="1">
                <a:cs typeface="Arial"/>
              </a:rPr>
              <a:t>νάγκες</a:t>
            </a:r>
            <a:r>
              <a:rPr lang="en-US">
                <a:cs typeface="Arial"/>
              </a:rPr>
              <a:t>. Κα</a:t>
            </a:r>
            <a:r>
              <a:rPr lang="en-US" err="1">
                <a:cs typeface="Arial"/>
              </a:rPr>
              <a:t>θεμί</a:t>
            </a:r>
            <a:r>
              <a:rPr lang="en-US">
                <a:cs typeface="Arial"/>
              </a:rPr>
              <a:t>α </a:t>
            </a:r>
            <a:r>
              <a:rPr lang="en-US" err="1">
                <a:cs typeface="Arial"/>
              </a:rPr>
              <a:t>γλώσσ</a:t>
            </a:r>
            <a:r>
              <a:rPr lang="en-US">
                <a:cs typeface="Arial"/>
              </a:rPr>
              <a:t>α π</a:t>
            </a:r>
            <a:r>
              <a:rPr lang="en-US" err="1">
                <a:cs typeface="Arial"/>
              </a:rPr>
              <a:t>ρογρ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μμ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τισμού</a:t>
            </a:r>
            <a:r>
              <a:rPr lang="en-US">
                <a:cs typeface="Arial"/>
              </a:rPr>
              <a:t> μπ</a:t>
            </a:r>
            <a:r>
              <a:rPr lang="en-US" err="1">
                <a:cs typeface="Arial"/>
              </a:rPr>
              <a:t>ορεί</a:t>
            </a:r>
            <a:r>
              <a:rPr lang="en-US">
                <a:cs typeface="Arial"/>
              </a:rPr>
              <a:t> να π</a:t>
            </a:r>
            <a:r>
              <a:rPr lang="en-US" err="1">
                <a:cs typeface="Arial"/>
              </a:rPr>
              <a:t>ροσφέρει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δι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φορετικές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λειτουργίες</a:t>
            </a:r>
            <a:r>
              <a:rPr lang="en-US">
                <a:cs typeface="Arial"/>
              </a:rPr>
              <a:t>. </a:t>
            </a:r>
            <a:r>
              <a:rPr lang="en-US" err="1">
                <a:cs typeface="Arial"/>
              </a:rPr>
              <a:t>Στην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εφ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ρμογή</a:t>
            </a:r>
            <a:r>
              <a:rPr lang="en-US">
                <a:cs typeface="Arial"/>
              </a:rPr>
              <a:t> μας, η επ</a:t>
            </a:r>
            <a:r>
              <a:rPr lang="en-US" err="1">
                <a:cs typeface="Arial"/>
              </a:rPr>
              <a:t>ιλογή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γλώσσ</a:t>
            </a:r>
            <a:r>
              <a:rPr lang="en-US">
                <a:cs typeface="Arial"/>
              </a:rPr>
              <a:t>ας π</a:t>
            </a:r>
            <a:r>
              <a:rPr lang="en-US" err="1">
                <a:cs typeface="Arial"/>
              </a:rPr>
              <a:t>ρογρ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μμ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τισμού</a:t>
            </a:r>
            <a:r>
              <a:rPr lang="en-US">
                <a:cs typeface="Arial"/>
              </a:rPr>
              <a:t> έπα</a:t>
            </a:r>
            <a:r>
              <a:rPr lang="en-US" err="1">
                <a:cs typeface="Arial"/>
              </a:rPr>
              <a:t>ιξε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κομ</a:t>
            </a:r>
            <a:r>
              <a:rPr lang="en-US">
                <a:cs typeface="Arial"/>
              </a:rPr>
              <a:t>β</a:t>
            </a:r>
            <a:r>
              <a:rPr lang="en-US" err="1">
                <a:cs typeface="Arial"/>
              </a:rPr>
              <a:t>ικό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ρόλο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στην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υλο</a:t>
            </a:r>
            <a:r>
              <a:rPr lang="en-US">
                <a:cs typeface="Arial"/>
              </a:rPr>
              <a:t>π</a:t>
            </a:r>
            <a:r>
              <a:rPr lang="en-US" err="1">
                <a:cs typeface="Arial"/>
              </a:rPr>
              <a:t>οίησή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της</a:t>
            </a:r>
            <a:r>
              <a:rPr lang="en-US">
                <a:cs typeface="Arial"/>
              </a:rPr>
              <a:t>, </a:t>
            </a:r>
            <a:r>
              <a:rPr lang="en-US" err="1">
                <a:cs typeface="Arial"/>
              </a:rPr>
              <a:t>με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στόχο</a:t>
            </a:r>
            <a:r>
              <a:rPr lang="en-US">
                <a:cs typeface="Arial"/>
              </a:rPr>
              <a:t>:</a:t>
            </a:r>
          </a:p>
          <a:p>
            <a:r>
              <a:rPr lang="en-US" err="1">
                <a:cs typeface="Arial"/>
              </a:rPr>
              <a:t>Τη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λειτουργικότητ</a:t>
            </a:r>
            <a:r>
              <a:rPr lang="en-US">
                <a:cs typeface="Arial"/>
              </a:rPr>
              <a:t>α.</a:t>
            </a:r>
          </a:p>
          <a:p>
            <a:r>
              <a:rPr lang="en-US" err="1">
                <a:cs typeface="Arial"/>
              </a:rPr>
              <a:t>Την</a:t>
            </a:r>
            <a:r>
              <a:rPr lang="en-US">
                <a:cs typeface="Arial"/>
              </a:rPr>
              <a:t> επ</a:t>
            </a:r>
            <a:r>
              <a:rPr lang="en-US" err="1">
                <a:cs typeface="Arial"/>
              </a:rPr>
              <a:t>εκτ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σιμότητ</a:t>
            </a:r>
            <a:r>
              <a:rPr lang="en-US">
                <a:cs typeface="Arial"/>
              </a:rPr>
              <a:t>α.</a:t>
            </a:r>
          </a:p>
          <a:p>
            <a:r>
              <a:rPr lang="en-US" err="1">
                <a:cs typeface="Arial"/>
              </a:rPr>
              <a:t>Το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φιλικό</a:t>
            </a:r>
            <a:r>
              <a:rPr lang="en-US">
                <a:cs typeface="Arial"/>
              </a:rPr>
              <a:t> GUI.</a:t>
            </a:r>
          </a:p>
        </p:txBody>
      </p:sp>
    </p:spTree>
    <p:extLst>
      <p:ext uri="{BB962C8B-B14F-4D97-AF65-F5344CB8AC3E}">
        <p14:creationId xmlns:p14="http://schemas.microsoft.com/office/powerpoint/2010/main" val="12931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logo of a cup of coffee&#10;&#10;AI-generated content may be incorrect.">
            <a:extLst>
              <a:ext uri="{FF2B5EF4-FFF2-40B4-BE49-F238E27FC236}">
                <a16:creationId xmlns:a16="http://schemas.microsoft.com/office/drawing/2014/main" id="{2749F70A-F00D-4554-0BDF-A3FC78FD7DF1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l="1247" r="1247"/>
          <a:stretch/>
        </p:blipFill>
        <p:spPr>
          <a:xfrm>
            <a:off x="652127" y="634284"/>
            <a:ext cx="1122363" cy="1482577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8709000-FBCC-10CF-488D-A883106F88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071656" y="638402"/>
            <a:ext cx="2683398" cy="309093"/>
          </a:xfrm>
        </p:spPr>
        <p:txBody>
          <a:bodyPr/>
          <a:lstStyle/>
          <a:p>
            <a:r>
              <a:rPr lang="en-US" altLang="zh-CN">
                <a:ea typeface="Segoe UI Black"/>
              </a:rPr>
              <a:t>Java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CADB4-4B00-BEB9-96CA-9F9A9DB666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71656" y="949384"/>
            <a:ext cx="4202536" cy="1169140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Char char="•"/>
            </a:pPr>
            <a:r>
              <a:rPr lang="en-US" sz="1600" err="1">
                <a:cs typeface="Arial"/>
              </a:rPr>
              <a:t>Ισχυρή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γι</a:t>
            </a:r>
            <a:r>
              <a:rPr lang="en-US" sz="1600">
                <a:cs typeface="Arial"/>
              </a:rPr>
              <a:t>α desktop </a:t>
            </a:r>
            <a:r>
              <a:rPr lang="en-US" sz="1600" err="1">
                <a:cs typeface="Arial"/>
              </a:rPr>
              <a:t>εφ</a:t>
            </a:r>
            <a:r>
              <a:rPr lang="en-US" sz="1600">
                <a:cs typeface="Arial"/>
              </a:rPr>
              <a:t>α</a:t>
            </a:r>
            <a:r>
              <a:rPr lang="en-US" sz="1600" err="1">
                <a:cs typeface="Arial"/>
              </a:rPr>
              <a:t>ρμογές</a:t>
            </a:r>
            <a:r>
              <a:rPr lang="en-US" sz="1600">
                <a:cs typeface="Arial"/>
              </a:rPr>
              <a:t>.</a:t>
            </a:r>
          </a:p>
          <a:p>
            <a:pPr marL="285750" indent="-285750">
              <a:buChar char="•"/>
            </a:pPr>
            <a:r>
              <a:rPr lang="en-US" sz="1600" err="1">
                <a:cs typeface="Arial"/>
              </a:rPr>
              <a:t>Δύσκολη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εφ</a:t>
            </a:r>
            <a:r>
              <a:rPr lang="en-US" sz="1600">
                <a:cs typeface="Arial"/>
              </a:rPr>
              <a:t>α</a:t>
            </a:r>
            <a:r>
              <a:rPr lang="en-US" sz="1600" err="1">
                <a:cs typeface="Arial"/>
              </a:rPr>
              <a:t>ρμογή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κώδικ</a:t>
            </a:r>
            <a:r>
              <a:rPr lang="en-US" sz="1600">
                <a:cs typeface="Arial"/>
              </a:rPr>
              <a:t>α α</a:t>
            </a:r>
            <a:r>
              <a:rPr lang="en-US" sz="1600" err="1">
                <a:cs typeface="Arial"/>
              </a:rPr>
              <a:t>κόμ</a:t>
            </a:r>
            <a:r>
              <a:rPr lang="en-US" sz="1600">
                <a:cs typeface="Arial"/>
              </a:rPr>
              <a:t>α και </a:t>
            </a:r>
            <a:r>
              <a:rPr lang="en-US" sz="1600" err="1">
                <a:cs typeface="Arial"/>
              </a:rPr>
              <a:t>γι</a:t>
            </a:r>
            <a:r>
              <a:rPr lang="en-US" sz="1600">
                <a:cs typeface="Arial"/>
              </a:rPr>
              <a:t>α απ</a:t>
            </a:r>
            <a:r>
              <a:rPr lang="en-US" sz="1600" err="1">
                <a:cs typeface="Arial"/>
              </a:rPr>
              <a:t>λά</a:t>
            </a:r>
            <a:r>
              <a:rPr lang="en-US" sz="1600">
                <a:cs typeface="Arial"/>
              </a:rPr>
              <a:t> μα</a:t>
            </a:r>
            <a:r>
              <a:rPr lang="en-US" sz="1600" err="1">
                <a:cs typeface="Arial"/>
              </a:rPr>
              <a:t>θημ</a:t>
            </a:r>
            <a:r>
              <a:rPr lang="en-US" sz="1600">
                <a:cs typeface="Arial"/>
              </a:rPr>
              <a:t>α</a:t>
            </a:r>
            <a:r>
              <a:rPr lang="en-US" sz="1600" err="1">
                <a:cs typeface="Arial"/>
              </a:rPr>
              <a:t>τικά</a:t>
            </a:r>
            <a:r>
              <a:rPr lang="en-US" sz="1600">
                <a:cs typeface="Arial"/>
              </a:rPr>
              <a:t>.</a:t>
            </a:r>
          </a:p>
          <a:p>
            <a:pPr marL="285750" indent="-285750">
              <a:buChar char="•"/>
            </a:pPr>
            <a:r>
              <a:rPr lang="en-US" sz="1600" err="1">
                <a:cs typeface="Arial"/>
              </a:rPr>
              <a:t>Περί</a:t>
            </a:r>
            <a:r>
              <a:rPr lang="en-US" sz="1600">
                <a:cs typeface="Arial"/>
              </a:rPr>
              <a:t>π</a:t>
            </a:r>
            <a:r>
              <a:rPr lang="en-US" sz="1600" err="1">
                <a:cs typeface="Arial"/>
              </a:rPr>
              <a:t>λοκο</a:t>
            </a:r>
            <a:r>
              <a:rPr lang="en-US" sz="1600">
                <a:cs typeface="Arial"/>
              </a:rPr>
              <a:t> και </a:t>
            </a:r>
            <a:r>
              <a:rPr lang="en-US" sz="1600" err="1">
                <a:cs typeface="Arial"/>
              </a:rPr>
              <a:t>σύνθετο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συντ</a:t>
            </a:r>
            <a:r>
              <a:rPr lang="en-US" sz="1600">
                <a:cs typeface="Arial"/>
              </a:rPr>
              <a:t>α</a:t>
            </a:r>
            <a:r>
              <a:rPr lang="en-US" sz="1600" err="1">
                <a:cs typeface="Arial"/>
              </a:rPr>
              <a:t>κτικό</a:t>
            </a:r>
            <a:r>
              <a:rPr lang="en-US" sz="1600">
                <a:cs typeface="Arial"/>
              </a:rPr>
              <a:t>.</a:t>
            </a:r>
          </a:p>
        </p:txBody>
      </p:sp>
      <p:pic>
        <p:nvPicPr>
          <p:cNvPr id="18" name="Picture Placeholder 17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3A050BF4-3592-FBC0-1C00-770F1E3E3F92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l="9216" r="9216"/>
          <a:stretch/>
        </p:blipFill>
        <p:spPr>
          <a:xfrm>
            <a:off x="654074" y="2684171"/>
            <a:ext cx="1122363" cy="1482577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909374-0A1B-E9AF-A62D-645BECB712E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070740" y="2688290"/>
            <a:ext cx="2683398" cy="362755"/>
          </a:xfrm>
        </p:spPr>
        <p:txBody>
          <a:bodyPr/>
          <a:lstStyle/>
          <a:p>
            <a:r>
              <a:rPr lang="en-US" altLang="zh-CN"/>
              <a:t>Python</a:t>
            </a:r>
            <a:endParaRPr lang="zh-CN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39EE458-9DF9-C8BF-1BDE-BFC410E3FF2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70741" y="3049695"/>
            <a:ext cx="4028591" cy="118311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Char char="•"/>
            </a:pPr>
            <a:r>
              <a:rPr lang="en-US" sz="1600">
                <a:cs typeface="Arial"/>
              </a:rPr>
              <a:t>Κα</a:t>
            </a:r>
            <a:r>
              <a:rPr lang="en-US" sz="1600" err="1">
                <a:cs typeface="Arial"/>
              </a:rPr>
              <a:t>λή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γι</a:t>
            </a:r>
            <a:r>
              <a:rPr lang="en-US" sz="1600">
                <a:cs typeface="Arial"/>
              </a:rPr>
              <a:t>α μα</a:t>
            </a:r>
            <a:r>
              <a:rPr lang="en-US" sz="1600" err="1">
                <a:cs typeface="Arial"/>
              </a:rPr>
              <a:t>θημ</a:t>
            </a:r>
            <a:r>
              <a:rPr lang="en-US" sz="1600">
                <a:cs typeface="Arial"/>
              </a:rPr>
              <a:t>α</a:t>
            </a:r>
            <a:r>
              <a:rPr lang="en-US" sz="1600" err="1">
                <a:cs typeface="Arial"/>
              </a:rPr>
              <a:t>τικούς</a:t>
            </a:r>
            <a:r>
              <a:rPr lang="en-US" sz="1600">
                <a:cs typeface="Arial"/>
              </a:rPr>
              <a:t> υπ</a:t>
            </a:r>
            <a:r>
              <a:rPr lang="en-US" sz="1600" err="1">
                <a:cs typeface="Arial"/>
              </a:rPr>
              <a:t>ολογισμούς</a:t>
            </a:r>
            <a:r>
              <a:rPr lang="en-US" sz="1600">
                <a:cs typeface="Arial"/>
              </a:rPr>
              <a:t>.</a:t>
            </a:r>
          </a:p>
          <a:p>
            <a:pPr marL="285750" indent="-285750">
              <a:buChar char="•"/>
            </a:pPr>
            <a:r>
              <a:rPr lang="en-US" sz="1600" err="1">
                <a:cs typeface="Arial"/>
              </a:rPr>
              <a:t>Χρήση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εξωτερικών</a:t>
            </a:r>
            <a:r>
              <a:rPr lang="en-US" sz="1600">
                <a:cs typeface="Arial"/>
              </a:rPr>
              <a:t> frameworks </a:t>
            </a:r>
            <a:r>
              <a:rPr lang="en-US" sz="1600" err="1">
                <a:cs typeface="Arial"/>
              </a:rPr>
              <a:t>γι</a:t>
            </a:r>
            <a:r>
              <a:rPr lang="en-US" sz="1600">
                <a:cs typeface="Arial"/>
              </a:rPr>
              <a:t>α GUI.</a:t>
            </a:r>
          </a:p>
          <a:p>
            <a:pPr marL="285750" indent="-285750">
              <a:buChar char="•"/>
            </a:pPr>
            <a:r>
              <a:rPr lang="en-US" sz="1600" err="1">
                <a:cs typeface="Arial"/>
              </a:rPr>
              <a:t>Δύσκολη</a:t>
            </a:r>
            <a:r>
              <a:rPr lang="en-US" sz="1600">
                <a:cs typeface="Arial"/>
              </a:rPr>
              <a:t> η επ</a:t>
            </a:r>
            <a:r>
              <a:rPr lang="en-US" sz="1600" err="1">
                <a:cs typeface="Arial"/>
              </a:rPr>
              <a:t>ιλογή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της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γι</a:t>
            </a:r>
            <a:r>
              <a:rPr lang="en-US" sz="1600">
                <a:cs typeface="Arial"/>
              </a:rPr>
              <a:t>α </a:t>
            </a:r>
            <a:r>
              <a:rPr lang="en-US" sz="1600" err="1">
                <a:cs typeface="Arial"/>
              </a:rPr>
              <a:t>εφ</a:t>
            </a:r>
            <a:r>
              <a:rPr lang="en-US" sz="1600">
                <a:cs typeface="Arial"/>
              </a:rPr>
              <a:t>α</a:t>
            </a:r>
            <a:r>
              <a:rPr lang="en-US" sz="1600" err="1">
                <a:cs typeface="Arial"/>
              </a:rPr>
              <a:t>ρμογές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με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κριτήριο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την</a:t>
            </a:r>
            <a:r>
              <a:rPr lang="en-US" sz="1600">
                <a:cs typeface="Arial"/>
              </a:rPr>
              <a:t> απ</a:t>
            </a:r>
            <a:r>
              <a:rPr lang="en-US" sz="1600" err="1">
                <a:cs typeface="Arial"/>
              </a:rPr>
              <a:t>όδοση</a:t>
            </a:r>
            <a:r>
              <a:rPr lang="en-US" sz="1600">
                <a:cs typeface="Arial"/>
              </a:rPr>
              <a:t>.</a:t>
            </a:r>
          </a:p>
        </p:txBody>
      </p:sp>
      <p:pic>
        <p:nvPicPr>
          <p:cNvPr id="20" name="Picture Placeholder 19" descr="A red and blue logo&#10;&#10;AI-generated content may be incorrect.">
            <a:extLst>
              <a:ext uri="{FF2B5EF4-FFF2-40B4-BE49-F238E27FC236}">
                <a16:creationId xmlns:a16="http://schemas.microsoft.com/office/drawing/2014/main" id="{CDEEA9E9-4D74-B07F-AACE-1DA4F9AD5DDA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/>
          <a:srcRect l="13507" r="13507"/>
          <a:stretch/>
        </p:blipFill>
        <p:spPr>
          <a:xfrm>
            <a:off x="652128" y="4586818"/>
            <a:ext cx="1122363" cy="1482577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F651256-540E-0771-7FA1-3938C2B54D7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071656" y="4516438"/>
            <a:ext cx="2683398" cy="384220"/>
          </a:xfrm>
        </p:spPr>
        <p:txBody>
          <a:bodyPr/>
          <a:lstStyle/>
          <a:p>
            <a:r>
              <a:rPr lang="en-US" altLang="zh-CN">
                <a:ea typeface="Segoe UI Black"/>
              </a:rPr>
              <a:t>MATLAB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CABC0-CB35-820A-604E-EAE385030B2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71656" y="5008656"/>
            <a:ext cx="4084480" cy="1192224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Char char="•"/>
            </a:pPr>
            <a:r>
              <a:rPr lang="en-US" sz="1600" err="1">
                <a:cs typeface="Arial"/>
              </a:rPr>
              <a:t>Βι</a:t>
            </a:r>
            <a:r>
              <a:rPr lang="en-US" sz="1600">
                <a:cs typeface="Arial"/>
              </a:rPr>
              <a:t>β</a:t>
            </a:r>
            <a:r>
              <a:rPr lang="en-US" sz="1600" err="1">
                <a:cs typeface="Arial"/>
              </a:rPr>
              <a:t>λιοθήκες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με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έτοιμες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συν</a:t>
            </a:r>
            <a:r>
              <a:rPr lang="en-US" sz="1600">
                <a:cs typeface="Arial"/>
              </a:rPr>
              <a:t>α</a:t>
            </a:r>
            <a:r>
              <a:rPr lang="en-US" sz="1600" err="1">
                <a:cs typeface="Arial"/>
              </a:rPr>
              <a:t>ρτήσεις</a:t>
            </a:r>
            <a:r>
              <a:rPr lang="en-US" sz="1600">
                <a:cs typeface="Arial"/>
              </a:rPr>
              <a:t>.</a:t>
            </a:r>
          </a:p>
          <a:p>
            <a:pPr marL="285750" indent="-285750">
              <a:buChar char="•"/>
            </a:pPr>
            <a:r>
              <a:rPr lang="en-US" sz="1600">
                <a:cs typeface="Arial"/>
              </a:rPr>
              <a:t>App Designer </a:t>
            </a:r>
            <a:r>
              <a:rPr lang="en-US" sz="1600" err="1">
                <a:cs typeface="Arial"/>
              </a:rPr>
              <a:t>γι</a:t>
            </a:r>
            <a:r>
              <a:rPr lang="en-US" sz="1600">
                <a:cs typeface="Arial"/>
              </a:rPr>
              <a:t>α </a:t>
            </a:r>
            <a:r>
              <a:rPr lang="en-US" sz="1600" err="1">
                <a:cs typeface="Arial"/>
              </a:rPr>
              <a:t>εύκολη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δημιουργί</a:t>
            </a:r>
            <a:r>
              <a:rPr lang="en-US" sz="1600">
                <a:cs typeface="Arial"/>
              </a:rPr>
              <a:t>α GUI.</a:t>
            </a:r>
          </a:p>
          <a:p>
            <a:pPr marL="285750" indent="-285750">
              <a:buChar char="•"/>
            </a:pPr>
            <a:r>
              <a:rPr lang="en-US" sz="1600" err="1">
                <a:cs typeface="Arial"/>
              </a:rPr>
              <a:t>Ιδ</a:t>
            </a:r>
            <a:r>
              <a:rPr lang="en-US" sz="1600">
                <a:cs typeface="Arial"/>
              </a:rPr>
              <a:t>α</a:t>
            </a:r>
            <a:r>
              <a:rPr lang="en-US" sz="1600" err="1">
                <a:cs typeface="Arial"/>
              </a:rPr>
              <a:t>νικό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γι</a:t>
            </a:r>
            <a:r>
              <a:rPr lang="en-US" sz="1600">
                <a:cs typeface="Arial"/>
              </a:rPr>
              <a:t>α επ</a:t>
            </a:r>
            <a:r>
              <a:rPr lang="en-US" sz="1600" err="1">
                <a:cs typeface="Arial"/>
              </a:rPr>
              <a:t>ιστημιονική</a:t>
            </a:r>
            <a:r>
              <a:rPr lang="en-US" sz="1600">
                <a:cs typeface="Arial"/>
              </a:rPr>
              <a:t> </a:t>
            </a:r>
            <a:r>
              <a:rPr lang="en-US" sz="1600" err="1">
                <a:cs typeface="Arial"/>
              </a:rPr>
              <a:t>χρήση</a:t>
            </a:r>
            <a:r>
              <a:rPr lang="en-US" sz="1600">
                <a:cs typeface="Arial"/>
              </a:rPr>
              <a:t>.</a:t>
            </a:r>
          </a:p>
          <a:p>
            <a:pPr marL="285750" indent="-285750">
              <a:buChar char="•"/>
            </a:pPr>
            <a:endParaRPr lang="en-US">
              <a:cs typeface="Arial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668C829-B5DC-BE60-D54B-D84F5269DC3A}"/>
              </a:ext>
            </a:extLst>
          </p:cNvPr>
          <p:cNvSpPr txBox="1">
            <a:spLocks/>
          </p:cNvSpPr>
          <p:nvPr/>
        </p:nvSpPr>
        <p:spPr>
          <a:xfrm>
            <a:off x="6960485" y="1973534"/>
            <a:ext cx="4662003" cy="33579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cs typeface="Arial"/>
              </a:rPr>
              <a:t> </a:t>
            </a:r>
            <a:r>
              <a:rPr lang="en-US" sz="1800">
                <a:cs typeface="Arial"/>
              </a:rPr>
              <a:t>Η επ</a:t>
            </a:r>
            <a:r>
              <a:rPr lang="en-US" sz="1800" err="1">
                <a:cs typeface="Arial"/>
              </a:rPr>
              <a:t>ιλογή</a:t>
            </a:r>
            <a:r>
              <a:rPr lang="en-US" sz="1800">
                <a:cs typeface="Arial"/>
              </a:rPr>
              <a:t> </a:t>
            </a:r>
            <a:r>
              <a:rPr lang="en-US" sz="1800" err="1">
                <a:cs typeface="Arial"/>
              </a:rPr>
              <a:t>του</a:t>
            </a:r>
            <a:r>
              <a:rPr lang="en-US" sz="1800">
                <a:cs typeface="Arial"/>
              </a:rPr>
              <a:t> </a:t>
            </a:r>
            <a:r>
              <a:rPr lang="en-US" sz="1800" b="1">
                <a:cs typeface="Arial"/>
              </a:rPr>
              <a:t>Matlab</a:t>
            </a:r>
            <a:r>
              <a:rPr lang="en-US" sz="1800">
                <a:cs typeface="Arial"/>
              </a:rPr>
              <a:t>, </a:t>
            </a:r>
            <a:r>
              <a:rPr lang="en-US" sz="1800" err="1">
                <a:cs typeface="Arial"/>
              </a:rPr>
              <a:t>ήτ</a:t>
            </a:r>
            <a:r>
              <a:rPr lang="en-US" sz="1800">
                <a:cs typeface="Arial"/>
              </a:rPr>
              <a:t>αν η </a:t>
            </a:r>
            <a:r>
              <a:rPr lang="en-US" sz="1800" err="1">
                <a:cs typeface="Arial"/>
              </a:rPr>
              <a:t>ιδ</a:t>
            </a:r>
            <a:r>
              <a:rPr lang="en-US" sz="1800">
                <a:cs typeface="Arial"/>
              </a:rPr>
              <a:t>α</a:t>
            </a:r>
            <a:r>
              <a:rPr lang="en-US" sz="1800" err="1">
                <a:cs typeface="Arial"/>
              </a:rPr>
              <a:t>νικότερη</a:t>
            </a:r>
            <a:r>
              <a:rPr lang="en-US" sz="1800">
                <a:cs typeface="Arial"/>
              </a:rPr>
              <a:t> </a:t>
            </a:r>
            <a:r>
              <a:rPr lang="en-US" sz="1800" err="1">
                <a:cs typeface="Arial"/>
              </a:rPr>
              <a:t>γι</a:t>
            </a:r>
            <a:r>
              <a:rPr lang="en-US" sz="1800">
                <a:cs typeface="Arial"/>
              </a:rPr>
              <a:t>α </a:t>
            </a:r>
            <a:r>
              <a:rPr lang="en-US" sz="1800" err="1">
                <a:cs typeface="Arial"/>
              </a:rPr>
              <a:t>την</a:t>
            </a:r>
            <a:r>
              <a:rPr lang="en-US" sz="1800">
                <a:cs typeface="Arial"/>
              </a:rPr>
              <a:t> α</a:t>
            </a:r>
            <a:r>
              <a:rPr lang="en-US" sz="1800" err="1">
                <a:cs typeface="Arial"/>
              </a:rPr>
              <a:t>νά</a:t>
            </a:r>
            <a:r>
              <a:rPr lang="en-US" sz="1800">
                <a:cs typeface="Arial"/>
              </a:rPr>
              <a:t>π</a:t>
            </a:r>
            <a:r>
              <a:rPr lang="en-US" sz="1800" err="1">
                <a:cs typeface="Arial"/>
              </a:rPr>
              <a:t>τυξη</a:t>
            </a:r>
            <a:r>
              <a:rPr lang="en-US" sz="1800">
                <a:cs typeface="Arial"/>
              </a:rPr>
              <a:t> </a:t>
            </a:r>
            <a:r>
              <a:rPr lang="en-US" sz="1800" err="1">
                <a:cs typeface="Arial"/>
              </a:rPr>
              <a:t>της</a:t>
            </a:r>
            <a:r>
              <a:rPr lang="en-US" sz="1800">
                <a:cs typeface="Arial"/>
              </a:rPr>
              <a:t> </a:t>
            </a:r>
            <a:r>
              <a:rPr lang="en-US" sz="1800" err="1">
                <a:cs typeface="Arial"/>
              </a:rPr>
              <a:t>εφ</a:t>
            </a:r>
            <a:r>
              <a:rPr lang="en-US" sz="1800">
                <a:cs typeface="Arial"/>
              </a:rPr>
              <a:t>α</a:t>
            </a:r>
            <a:r>
              <a:rPr lang="en-US" sz="1800" err="1">
                <a:cs typeface="Arial"/>
              </a:rPr>
              <a:t>ρμογής</a:t>
            </a:r>
            <a:r>
              <a:rPr lang="en-US" sz="1800">
                <a:cs typeface="Arial"/>
              </a:rPr>
              <a:t>. Η </a:t>
            </a:r>
            <a:r>
              <a:rPr lang="en-US" sz="1800" err="1">
                <a:cs typeface="Arial"/>
              </a:rPr>
              <a:t>δυν</a:t>
            </a:r>
            <a:r>
              <a:rPr lang="en-US" sz="1800">
                <a:cs typeface="Arial"/>
              </a:rPr>
              <a:t>α</a:t>
            </a:r>
            <a:r>
              <a:rPr lang="en-US" sz="1800" err="1">
                <a:cs typeface="Arial"/>
              </a:rPr>
              <a:t>τότητ</a:t>
            </a:r>
            <a:r>
              <a:rPr lang="en-US" sz="1800">
                <a:cs typeface="Arial"/>
              </a:rPr>
              <a:t>α </a:t>
            </a:r>
            <a:r>
              <a:rPr lang="en-US" sz="1800" err="1">
                <a:cs typeface="Arial"/>
              </a:rPr>
              <a:t>της</a:t>
            </a:r>
            <a:r>
              <a:rPr lang="en-US" sz="1800">
                <a:cs typeface="Arial"/>
              </a:rPr>
              <a:t> </a:t>
            </a:r>
            <a:r>
              <a:rPr lang="en-US" sz="1800" err="1">
                <a:cs typeface="Arial"/>
              </a:rPr>
              <a:t>εύκολης</a:t>
            </a:r>
            <a:r>
              <a:rPr lang="en-US" sz="1800">
                <a:cs typeface="Arial"/>
              </a:rPr>
              <a:t> </a:t>
            </a:r>
            <a:r>
              <a:rPr lang="en-US" sz="1800" err="1">
                <a:cs typeface="Arial"/>
              </a:rPr>
              <a:t>δημιουργί</a:t>
            </a:r>
            <a:r>
              <a:rPr lang="en-US" sz="1800">
                <a:cs typeface="Arial"/>
              </a:rPr>
              <a:t>ας </a:t>
            </a:r>
            <a:r>
              <a:rPr lang="en-US" sz="1800" err="1">
                <a:cs typeface="Arial"/>
              </a:rPr>
              <a:t>κώδικ</a:t>
            </a:r>
            <a:r>
              <a:rPr lang="en-US" sz="1800">
                <a:cs typeface="Arial"/>
              </a:rPr>
              <a:t>α </a:t>
            </a:r>
            <a:r>
              <a:rPr lang="en-US" sz="1800" err="1">
                <a:cs typeface="Arial"/>
              </a:rPr>
              <a:t>με</a:t>
            </a:r>
            <a:r>
              <a:rPr lang="en-US" sz="1800">
                <a:cs typeface="Arial"/>
              </a:rPr>
              <a:t> </a:t>
            </a:r>
            <a:r>
              <a:rPr lang="en-US" sz="1800" err="1">
                <a:cs typeface="Arial"/>
              </a:rPr>
              <a:t>τη</a:t>
            </a:r>
            <a:r>
              <a:rPr lang="en-US" sz="1800">
                <a:cs typeface="Arial"/>
              </a:rPr>
              <a:t> β</a:t>
            </a:r>
            <a:r>
              <a:rPr lang="en-US" sz="1800" err="1">
                <a:cs typeface="Arial"/>
              </a:rPr>
              <a:t>οήθει</a:t>
            </a:r>
            <a:r>
              <a:rPr lang="en-US" sz="1800">
                <a:cs typeface="Arial"/>
              </a:rPr>
              <a:t>α </a:t>
            </a:r>
            <a:r>
              <a:rPr lang="en-US" sz="1800" err="1">
                <a:cs typeface="Arial"/>
              </a:rPr>
              <a:t>των</a:t>
            </a:r>
            <a:r>
              <a:rPr lang="en-US" sz="1800">
                <a:cs typeface="Arial"/>
              </a:rPr>
              <a:t> </a:t>
            </a:r>
            <a:r>
              <a:rPr lang="en-US" sz="1800" err="1">
                <a:cs typeface="Arial"/>
              </a:rPr>
              <a:t>έτοιμων</a:t>
            </a:r>
            <a:r>
              <a:rPr lang="en-US" sz="1800">
                <a:cs typeface="Arial"/>
              </a:rPr>
              <a:t> </a:t>
            </a:r>
            <a:r>
              <a:rPr lang="en-US" sz="1800" err="1">
                <a:cs typeface="Arial"/>
              </a:rPr>
              <a:t>συν</a:t>
            </a:r>
            <a:r>
              <a:rPr lang="en-US" sz="1800">
                <a:cs typeface="Arial"/>
              </a:rPr>
              <a:t>α</a:t>
            </a:r>
            <a:r>
              <a:rPr lang="en-US" sz="1800" err="1">
                <a:cs typeface="Arial"/>
              </a:rPr>
              <a:t>ρτήσεων</a:t>
            </a:r>
            <a:r>
              <a:rPr lang="en-US" sz="1800">
                <a:cs typeface="Arial"/>
              </a:rPr>
              <a:t>, η </a:t>
            </a:r>
            <a:r>
              <a:rPr lang="en-US" sz="1800" err="1">
                <a:cs typeface="Arial"/>
              </a:rPr>
              <a:t>εύκολη</a:t>
            </a:r>
            <a:r>
              <a:rPr lang="en-US" sz="1800">
                <a:cs typeface="Arial"/>
              </a:rPr>
              <a:t> </a:t>
            </a:r>
            <a:r>
              <a:rPr lang="en-US" sz="1800" err="1">
                <a:cs typeface="Arial"/>
              </a:rPr>
              <a:t>χρήση</a:t>
            </a:r>
            <a:r>
              <a:rPr lang="en-US" sz="1800">
                <a:cs typeface="Arial"/>
              </a:rPr>
              <a:t> </a:t>
            </a:r>
            <a:r>
              <a:rPr lang="en-US" sz="1800" err="1">
                <a:cs typeface="Arial"/>
              </a:rPr>
              <a:t>του</a:t>
            </a:r>
            <a:r>
              <a:rPr lang="en-US" sz="1800">
                <a:cs typeface="Arial"/>
              </a:rPr>
              <a:t> App Designer κα</a:t>
            </a:r>
            <a:r>
              <a:rPr lang="en-US" sz="1800" err="1">
                <a:cs typeface="Arial"/>
              </a:rPr>
              <a:t>θώς</a:t>
            </a:r>
            <a:r>
              <a:rPr lang="en-US" sz="1800">
                <a:cs typeface="Arial"/>
              </a:rPr>
              <a:t> και η επ</a:t>
            </a:r>
            <a:r>
              <a:rPr lang="en-US" sz="1800" err="1">
                <a:cs typeface="Arial"/>
              </a:rPr>
              <a:t>εκτ</a:t>
            </a:r>
            <a:r>
              <a:rPr lang="en-US" sz="1800">
                <a:cs typeface="Arial"/>
              </a:rPr>
              <a:t>α</a:t>
            </a:r>
            <a:r>
              <a:rPr lang="en-US" sz="1800" err="1">
                <a:cs typeface="Arial"/>
              </a:rPr>
              <a:t>σιμότητ</a:t>
            </a:r>
            <a:r>
              <a:rPr lang="en-US" sz="1800">
                <a:cs typeface="Arial"/>
              </a:rPr>
              <a:t>α π</a:t>
            </a:r>
            <a:r>
              <a:rPr lang="en-US" sz="1800" err="1">
                <a:cs typeface="Arial"/>
              </a:rPr>
              <a:t>ου</a:t>
            </a:r>
            <a:r>
              <a:rPr lang="en-US" sz="1800">
                <a:cs typeface="Arial"/>
              </a:rPr>
              <a:t> π</a:t>
            </a:r>
            <a:r>
              <a:rPr lang="en-US" sz="1800" err="1">
                <a:cs typeface="Arial"/>
              </a:rPr>
              <a:t>ροσφέροντ</a:t>
            </a:r>
            <a:r>
              <a:rPr lang="en-US" sz="1800">
                <a:cs typeface="Arial"/>
              </a:rPr>
              <a:t>αι, απ</a:t>
            </a:r>
            <a:r>
              <a:rPr lang="en-US" sz="1800" err="1">
                <a:cs typeface="Arial"/>
              </a:rPr>
              <a:t>οδείχθηκ</a:t>
            </a:r>
            <a:r>
              <a:rPr lang="en-US" sz="1800">
                <a:cs typeface="Arial"/>
              </a:rPr>
              <a:t>αν </a:t>
            </a:r>
            <a:r>
              <a:rPr lang="en-US" sz="1800" err="1">
                <a:cs typeface="Arial"/>
              </a:rPr>
              <a:t>κομ</a:t>
            </a:r>
            <a:r>
              <a:rPr lang="en-US" sz="1800">
                <a:cs typeface="Arial"/>
              </a:rPr>
              <a:t>β</a:t>
            </a:r>
            <a:r>
              <a:rPr lang="en-US" sz="1800" err="1">
                <a:cs typeface="Arial"/>
              </a:rPr>
              <a:t>ικά</a:t>
            </a:r>
            <a:r>
              <a:rPr lang="en-US" sz="1800"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7989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/>
      <p:bldP spid="9" grpId="0" build="p"/>
      <p:bldP spid="10" grpId="0" build="p"/>
      <p:bldP spid="11" grpId="0" build="p"/>
      <p:bldP spid="12" grpId="0" build="p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F3E1E9-91F3-D594-7B6B-7298782A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8004" y="498216"/>
            <a:ext cx="2303119" cy="584853"/>
          </a:xfrm>
        </p:spPr>
        <p:txBody>
          <a:bodyPr bIns="0"/>
          <a:lstStyle/>
          <a:p>
            <a:r>
              <a:rPr lang="en-US" altLang="zh-CN" sz="4000">
                <a:ea typeface="Segoe UI Black"/>
              </a:rPr>
              <a:t>Backend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F5C731-0B26-AFBA-1D25-E6AE3BB1DD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81742" y="501594"/>
            <a:ext cx="831916" cy="597807"/>
          </a:xfrm>
        </p:spPr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A14B986-963A-8CC4-552B-A1A26615CD63}"/>
              </a:ext>
            </a:extLst>
          </p:cNvPr>
          <p:cNvSpPr txBox="1">
            <a:spLocks/>
          </p:cNvSpPr>
          <p:nvPr/>
        </p:nvSpPr>
        <p:spPr>
          <a:xfrm>
            <a:off x="2457713" y="1720490"/>
            <a:ext cx="9432977" cy="22350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cs typeface="Arial"/>
              </a:rPr>
              <a:t> 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B6FE6A5E-8CF3-614A-73A6-B1B42DDCF4A9}"/>
              </a:ext>
            </a:extLst>
          </p:cNvPr>
          <p:cNvSpPr txBox="1">
            <a:spLocks/>
          </p:cNvSpPr>
          <p:nvPr/>
        </p:nvSpPr>
        <p:spPr>
          <a:xfrm>
            <a:off x="2315111" y="1715911"/>
            <a:ext cx="9719107" cy="1959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cs typeface="Arial"/>
              </a:rPr>
              <a:t> </a:t>
            </a:r>
            <a:r>
              <a:rPr lang="en-US">
                <a:cs typeface="Arial"/>
              </a:rPr>
              <a:t>Η </a:t>
            </a:r>
            <a:r>
              <a:rPr lang="en-US" err="1">
                <a:cs typeface="Arial"/>
              </a:rPr>
              <a:t>υλο</a:t>
            </a:r>
            <a:r>
              <a:rPr lang="en-US">
                <a:cs typeface="Arial"/>
              </a:rPr>
              <a:t>π</a:t>
            </a:r>
            <a:r>
              <a:rPr lang="en-US" err="1">
                <a:cs typeface="Arial"/>
              </a:rPr>
              <a:t>οίηση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του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κώδικ</a:t>
            </a:r>
            <a:r>
              <a:rPr lang="en-US">
                <a:cs typeface="Arial"/>
              </a:rPr>
              <a:t>α </a:t>
            </a:r>
            <a:r>
              <a:rPr lang="en-US" err="1">
                <a:cs typeface="Arial"/>
              </a:rPr>
              <a:t>έχει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στηριχθεί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στην</a:t>
            </a:r>
            <a:r>
              <a:rPr lang="en-US">
                <a:cs typeface="Arial"/>
              </a:rPr>
              <a:t> επ</a:t>
            </a:r>
            <a:r>
              <a:rPr lang="en-US" err="1">
                <a:cs typeface="Arial"/>
              </a:rPr>
              <a:t>εκτ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σιμότητ</a:t>
            </a:r>
            <a:r>
              <a:rPr lang="en-US">
                <a:cs typeface="Arial"/>
              </a:rPr>
              <a:t>α και </a:t>
            </a:r>
            <a:r>
              <a:rPr lang="en-US" err="1">
                <a:cs typeface="Arial"/>
              </a:rPr>
              <a:t>στη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συντήρησή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του</a:t>
            </a:r>
            <a:r>
              <a:rPr lang="en-US">
                <a:cs typeface="Arial"/>
              </a:rPr>
              <a:t>. Ο CLI backend </a:t>
            </a:r>
            <a:r>
              <a:rPr lang="en-US" err="1">
                <a:cs typeface="Arial"/>
              </a:rPr>
              <a:t>στηρίζετ</a:t>
            </a:r>
            <a:r>
              <a:rPr lang="en-US">
                <a:cs typeface="Arial"/>
              </a:rPr>
              <a:t>αι </a:t>
            </a:r>
            <a:r>
              <a:rPr lang="en-US" err="1">
                <a:cs typeface="Arial"/>
              </a:rPr>
              <a:t>στην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είσοδο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του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χρήστη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μέσω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ληκτρολογίου</a:t>
            </a:r>
            <a:r>
              <a:rPr lang="en-US">
                <a:cs typeface="Arial"/>
              </a:rPr>
              <a:t>. Ο </a:t>
            </a:r>
            <a:r>
              <a:rPr lang="en-US" err="1">
                <a:cs typeface="Arial"/>
              </a:rPr>
              <a:t>χρήστης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δι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λέγει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την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ράξη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ου</a:t>
            </a:r>
            <a:r>
              <a:rPr lang="en-US">
                <a:cs typeface="Arial"/>
              </a:rPr>
              <a:t> επ</a:t>
            </a:r>
            <a:r>
              <a:rPr lang="en-US" err="1">
                <a:cs typeface="Arial"/>
              </a:rPr>
              <a:t>ιθυμεί</a:t>
            </a:r>
            <a:r>
              <a:rPr lang="en-US">
                <a:cs typeface="Arial"/>
              </a:rPr>
              <a:t>, </a:t>
            </a:r>
            <a:r>
              <a:rPr lang="en-US" err="1">
                <a:cs typeface="Arial"/>
              </a:rPr>
              <a:t>εισάγει</a:t>
            </a:r>
            <a:r>
              <a:rPr lang="en-US">
                <a:cs typeface="Arial"/>
              </a:rPr>
              <a:t> τα επ</a:t>
            </a:r>
            <a:r>
              <a:rPr lang="en-US" err="1">
                <a:cs typeface="Arial"/>
              </a:rPr>
              <a:t>ιτρε</a:t>
            </a:r>
            <a:r>
              <a:rPr lang="en-US">
                <a:cs typeface="Arial"/>
              </a:rPr>
              <a:t>π</a:t>
            </a:r>
            <a:r>
              <a:rPr lang="en-US" err="1">
                <a:cs typeface="Arial"/>
              </a:rPr>
              <a:t>όμεν</a:t>
            </a:r>
            <a:r>
              <a:rPr lang="en-US">
                <a:cs typeface="Arial"/>
              </a:rPr>
              <a:t>α </a:t>
            </a:r>
            <a:r>
              <a:rPr lang="en-US" err="1">
                <a:cs typeface="Arial"/>
              </a:rPr>
              <a:t>δεδομέν</a:t>
            </a:r>
            <a:r>
              <a:rPr lang="en-US">
                <a:cs typeface="Arial"/>
              </a:rPr>
              <a:t>α και </a:t>
            </a:r>
            <a:r>
              <a:rPr lang="en-US" err="1">
                <a:cs typeface="Arial"/>
              </a:rPr>
              <a:t>εμφ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νίζετ</a:t>
            </a:r>
            <a:r>
              <a:rPr lang="en-US">
                <a:cs typeface="Arial"/>
              </a:rPr>
              <a:t>αι </a:t>
            </a:r>
            <a:r>
              <a:rPr lang="en-US" err="1">
                <a:cs typeface="Arial"/>
              </a:rPr>
              <a:t>το</a:t>
            </a:r>
            <a:r>
              <a:rPr lang="en-US">
                <a:cs typeface="Arial"/>
              </a:rPr>
              <a:t> απ</a:t>
            </a:r>
            <a:r>
              <a:rPr lang="en-US" err="1">
                <a:cs typeface="Arial"/>
              </a:rPr>
              <a:t>οτέλεσμ</a:t>
            </a:r>
            <a:r>
              <a:rPr lang="en-US">
                <a:cs typeface="Arial"/>
              </a:rPr>
              <a:t>α </a:t>
            </a:r>
            <a:r>
              <a:rPr lang="en-US" err="1">
                <a:cs typeface="Arial"/>
              </a:rPr>
              <a:t>στο</a:t>
            </a:r>
            <a:r>
              <a:rPr lang="en-US">
                <a:cs typeface="Arial"/>
              </a:rPr>
              <a:t> command window. </a:t>
            </a:r>
          </a:p>
          <a:p>
            <a:pPr marL="0" indent="0">
              <a:buNone/>
            </a:pPr>
            <a:r>
              <a:rPr lang="en-US" err="1">
                <a:cs typeface="Arial"/>
              </a:rPr>
              <a:t>Πιο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συγκεκριμέν</a:t>
            </a:r>
            <a:r>
              <a:rPr lang="en-US">
                <a:cs typeface="Arial"/>
              </a:rPr>
              <a:t>α η </a:t>
            </a:r>
            <a:r>
              <a:rPr lang="en-US" err="1">
                <a:cs typeface="Arial"/>
              </a:rPr>
              <a:t>είσοδος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του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χρήστη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γίνετ</a:t>
            </a:r>
            <a:r>
              <a:rPr lang="en-US">
                <a:cs typeface="Arial"/>
              </a:rPr>
              <a:t>αι </a:t>
            </a:r>
            <a:r>
              <a:rPr lang="en-US" err="1">
                <a:cs typeface="Arial"/>
              </a:rPr>
              <a:t>σε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μορφή</a:t>
            </a:r>
            <a:r>
              <a:rPr lang="en-US">
                <a:cs typeface="Arial"/>
              </a:rPr>
              <a:t> String.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07F59C-A0C6-A0A3-99AD-1EF37E7C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488" y="3650232"/>
            <a:ext cx="8944873" cy="592706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C51084D-7C21-14AE-4526-1792E04EDF7F}"/>
              </a:ext>
            </a:extLst>
          </p:cNvPr>
          <p:cNvSpPr txBox="1">
            <a:spLocks/>
          </p:cNvSpPr>
          <p:nvPr/>
        </p:nvSpPr>
        <p:spPr>
          <a:xfrm>
            <a:off x="2315109" y="4375721"/>
            <a:ext cx="9575334" cy="8376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err="1">
                <a:cs typeface="Arial"/>
              </a:rPr>
              <a:t>Γίνοντ</a:t>
            </a:r>
            <a:r>
              <a:rPr lang="en-US">
                <a:cs typeface="Arial"/>
              </a:rPr>
              <a:t>αι </a:t>
            </a:r>
            <a:r>
              <a:rPr lang="en-US" err="1">
                <a:cs typeface="Arial"/>
              </a:rPr>
              <a:t>οι</a:t>
            </a:r>
            <a:r>
              <a:rPr lang="en-US">
                <a:cs typeface="Arial"/>
              </a:rPr>
              <a:t> απαρα</a:t>
            </a:r>
            <a:r>
              <a:rPr lang="en-US" err="1">
                <a:cs typeface="Arial"/>
              </a:rPr>
              <a:t>ίτητοι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έλεγχοι</a:t>
            </a:r>
            <a:r>
              <a:rPr lang="en-US">
                <a:cs typeface="Arial"/>
              </a:rPr>
              <a:t> και η </a:t>
            </a:r>
            <a:r>
              <a:rPr lang="en-US" err="1">
                <a:cs typeface="Arial"/>
              </a:rPr>
              <a:t>συνάρτηση</a:t>
            </a:r>
            <a:r>
              <a:rPr lang="en-US">
                <a:cs typeface="Arial"/>
              </a:rPr>
              <a:t> eval() </a:t>
            </a:r>
            <a:r>
              <a:rPr lang="en-US" err="1">
                <a:cs typeface="Arial"/>
              </a:rPr>
              <a:t>δι</a:t>
            </a:r>
            <a:r>
              <a:rPr lang="en-US">
                <a:cs typeface="Arial"/>
              </a:rPr>
              <a:t>αβ</a:t>
            </a:r>
            <a:r>
              <a:rPr lang="en-US" err="1">
                <a:cs typeface="Arial"/>
              </a:rPr>
              <a:t>άζει</a:t>
            </a:r>
            <a:r>
              <a:rPr lang="en-US">
                <a:cs typeface="Arial"/>
              </a:rPr>
              <a:t> </a:t>
            </a:r>
            <a:r>
              <a:rPr lang="en-US" err="1">
                <a:cs typeface="Arial"/>
              </a:rPr>
              <a:t>το</a:t>
            </a:r>
            <a:r>
              <a:rPr lang="en-US">
                <a:cs typeface="Arial"/>
              </a:rPr>
              <a:t> String. </a:t>
            </a:r>
            <a:r>
              <a:rPr lang="en-US" err="1">
                <a:cs typeface="Arial"/>
              </a:rPr>
              <a:t>Το</a:t>
            </a:r>
            <a:r>
              <a:rPr lang="en-US">
                <a:cs typeface="Arial"/>
              </a:rPr>
              <a:t> ανα</a:t>
            </a:r>
            <a:r>
              <a:rPr lang="en-US" err="1">
                <a:cs typeface="Arial"/>
              </a:rPr>
              <a:t>λύει</a:t>
            </a:r>
            <a:r>
              <a:rPr lang="en-US">
                <a:cs typeface="Arial"/>
              </a:rPr>
              <a:t>, υπ</a:t>
            </a:r>
            <a:r>
              <a:rPr lang="en-US" err="1">
                <a:cs typeface="Arial"/>
              </a:rPr>
              <a:t>ολογίζει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την</a:t>
            </a:r>
            <a:r>
              <a:rPr lang="en-US">
                <a:cs typeface="Arial"/>
              </a:rPr>
              <a:t> α</a:t>
            </a:r>
            <a:r>
              <a:rPr lang="en-US" err="1">
                <a:cs typeface="Arial"/>
              </a:rPr>
              <a:t>ριθμητική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τιμή</a:t>
            </a:r>
            <a:r>
              <a:rPr lang="en-US">
                <a:cs typeface="Arial"/>
              </a:rPr>
              <a:t> και επ</a:t>
            </a:r>
            <a:r>
              <a:rPr lang="en-US" err="1">
                <a:cs typeface="Arial"/>
              </a:rPr>
              <a:t>ιστρέφει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το</a:t>
            </a:r>
            <a:r>
              <a:rPr lang="en-US">
                <a:cs typeface="Arial"/>
              </a:rPr>
              <a:t> απ</a:t>
            </a:r>
            <a:r>
              <a:rPr lang="en-US" err="1">
                <a:cs typeface="Arial"/>
              </a:rPr>
              <a:t>οτέλεσμ</a:t>
            </a:r>
            <a:r>
              <a:rPr lang="en-US">
                <a:cs typeface="Arial"/>
              </a:rPr>
              <a:t>α.</a:t>
            </a:r>
          </a:p>
        </p:txBody>
      </p:sp>
    </p:spTree>
    <p:extLst>
      <p:ext uri="{BB962C8B-B14F-4D97-AF65-F5344CB8AC3E}">
        <p14:creationId xmlns:p14="http://schemas.microsoft.com/office/powerpoint/2010/main" val="316608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  <p:bldP spid="9" grpId="0"/>
      <p:bldP spid="5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1A37-3B7F-A974-7ADD-10E197054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031" y="387990"/>
            <a:ext cx="6357939" cy="633225"/>
          </a:xfrm>
        </p:spPr>
        <p:txBody>
          <a:bodyPr/>
          <a:lstStyle/>
          <a:p>
            <a:r>
              <a:rPr lang="en-US" altLang="zh-CN">
                <a:ea typeface="Segoe UI Black"/>
              </a:rPr>
              <a:t>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D18D6-B204-F755-9709-4C5ADE9A9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484" y="1409760"/>
            <a:ext cx="9838845" cy="4616390"/>
          </a:xfrm>
        </p:spPr>
        <p:txBody>
          <a:bodyPr vert="horz" lIns="0" tIns="0" rIns="0" bIns="0" rtlCol="0" anchor="t">
            <a:normAutofit/>
          </a:bodyPr>
          <a:lstStyle/>
          <a:p>
            <a:pPr algn="l"/>
            <a:r>
              <a:rPr lang="en-US" altLang="zh-CN" sz="1800"/>
              <a:t> H </a:t>
            </a:r>
            <a:r>
              <a:rPr lang="en-US" altLang="zh-CN" sz="1800" err="1"/>
              <a:t>συντήρηση</a:t>
            </a:r>
            <a:r>
              <a:rPr lang="en-US" altLang="zh-CN" sz="1800"/>
              <a:t> και η επ</a:t>
            </a:r>
            <a:r>
              <a:rPr lang="en-US" altLang="zh-CN" sz="1800" err="1"/>
              <a:t>εκτ</a:t>
            </a:r>
            <a:r>
              <a:rPr lang="en-US" altLang="zh-CN" sz="1800"/>
              <a:t>α</a:t>
            </a:r>
            <a:r>
              <a:rPr lang="en-US" altLang="zh-CN" sz="1800" err="1"/>
              <a:t>σιμότητ</a:t>
            </a:r>
            <a:r>
              <a:rPr lang="en-US" altLang="zh-CN" sz="1800"/>
              <a:t>α </a:t>
            </a:r>
            <a:r>
              <a:rPr lang="en-US" altLang="zh-CN" sz="1800" err="1"/>
              <a:t>του</a:t>
            </a:r>
            <a:r>
              <a:rPr lang="en-US" altLang="zh-CN" sz="1800"/>
              <a:t> </a:t>
            </a:r>
            <a:r>
              <a:rPr lang="en-US" altLang="zh-CN" sz="1800" err="1"/>
              <a:t>κώδικ</a:t>
            </a:r>
            <a:r>
              <a:rPr lang="en-US" altLang="zh-CN" sz="1800"/>
              <a:t>α </a:t>
            </a:r>
            <a:r>
              <a:rPr lang="en-US" altLang="zh-CN" sz="1800" err="1"/>
              <a:t>είν</a:t>
            </a:r>
            <a:r>
              <a:rPr lang="en-US" altLang="zh-CN" sz="1800"/>
              <a:t>αι π</a:t>
            </a:r>
            <a:r>
              <a:rPr lang="en-US" altLang="zh-CN" sz="1800" err="1"/>
              <a:t>ολύ</a:t>
            </a:r>
            <a:r>
              <a:rPr lang="en-US" altLang="zh-CN" sz="1800"/>
              <a:t> </a:t>
            </a:r>
            <a:r>
              <a:rPr lang="en-US" altLang="zh-CN" sz="1800" err="1"/>
              <a:t>κρίσιμ</a:t>
            </a:r>
            <a:r>
              <a:rPr lang="en-US" altLang="zh-CN" sz="1800"/>
              <a:t>α </a:t>
            </a:r>
            <a:r>
              <a:rPr lang="en-US" altLang="zh-CN" sz="1800" err="1"/>
              <a:t>γι</a:t>
            </a:r>
            <a:r>
              <a:rPr lang="en-US" altLang="zh-CN" sz="1800"/>
              <a:t>α </a:t>
            </a:r>
            <a:r>
              <a:rPr lang="en-US" altLang="zh-CN" sz="1800" err="1"/>
              <a:t>μι</a:t>
            </a:r>
            <a:r>
              <a:rPr lang="en-US" altLang="zh-CN" sz="1800"/>
              <a:t>α </a:t>
            </a:r>
            <a:r>
              <a:rPr lang="en-US" altLang="zh-CN" sz="1800" err="1"/>
              <a:t>εφ</a:t>
            </a:r>
            <a:r>
              <a:rPr lang="en-US" altLang="zh-CN" sz="1800"/>
              <a:t>α</a:t>
            </a:r>
            <a:r>
              <a:rPr lang="en-US" altLang="zh-CN" sz="1800" err="1"/>
              <a:t>ρμογή</a:t>
            </a:r>
            <a:r>
              <a:rPr lang="en-US" altLang="zh-CN" sz="1800"/>
              <a:t>. </a:t>
            </a:r>
            <a:r>
              <a:rPr lang="en-US" altLang="zh-CN" sz="1800" err="1"/>
              <a:t>Αυτό</a:t>
            </a:r>
            <a:r>
              <a:rPr lang="en-US" altLang="zh-CN" sz="1800"/>
              <a:t> μπ</a:t>
            </a:r>
            <a:r>
              <a:rPr lang="en-US" altLang="zh-CN" sz="1800" err="1"/>
              <a:t>ορεί</a:t>
            </a:r>
            <a:r>
              <a:rPr lang="en-US" altLang="zh-CN" sz="1800"/>
              <a:t> να επ</a:t>
            </a:r>
            <a:r>
              <a:rPr lang="en-US" altLang="zh-CN" sz="1800" err="1"/>
              <a:t>ιτευχθεί</a:t>
            </a:r>
            <a:r>
              <a:rPr lang="en-US" altLang="zh-CN" sz="1800"/>
              <a:t> </a:t>
            </a:r>
            <a:r>
              <a:rPr lang="en-US" altLang="zh-CN" sz="1800" err="1"/>
              <a:t>με</a:t>
            </a:r>
            <a:r>
              <a:rPr lang="en-US" altLang="zh-CN" sz="1800"/>
              <a:t> </a:t>
            </a:r>
            <a:r>
              <a:rPr lang="en-US" altLang="zh-CN" sz="1800" err="1"/>
              <a:t>διάφορους</a:t>
            </a:r>
            <a:r>
              <a:rPr lang="en-US" altLang="zh-CN" sz="1800"/>
              <a:t> </a:t>
            </a:r>
            <a:r>
              <a:rPr lang="en-US" altLang="zh-CN" sz="1800" err="1"/>
              <a:t>τρό</a:t>
            </a:r>
            <a:r>
              <a:rPr lang="en-US" altLang="zh-CN" sz="1800"/>
              <a:t>π</a:t>
            </a:r>
            <a:r>
              <a:rPr lang="en-US" altLang="zh-CN" sz="1800" err="1"/>
              <a:t>ους</a:t>
            </a:r>
            <a:r>
              <a:rPr lang="en-US" altLang="zh-CN" sz="1800"/>
              <a:t>. </a:t>
            </a:r>
            <a:r>
              <a:rPr lang="en-US" altLang="zh-CN" sz="1800" err="1"/>
              <a:t>Πολύ</a:t>
            </a:r>
            <a:r>
              <a:rPr lang="en-US" altLang="zh-CN" sz="1800"/>
              <a:t> </a:t>
            </a:r>
            <a:r>
              <a:rPr lang="en-US" altLang="zh-CN" sz="1800" err="1"/>
              <a:t>σημ</a:t>
            </a:r>
            <a:r>
              <a:rPr lang="en-US" altLang="zh-CN" sz="1800"/>
              <a:t>α</a:t>
            </a:r>
            <a:r>
              <a:rPr lang="en-US" altLang="zh-CN" sz="1800" err="1"/>
              <a:t>ντικό</a:t>
            </a:r>
            <a:r>
              <a:rPr lang="en-US" altLang="zh-CN" sz="1800"/>
              <a:t> </a:t>
            </a:r>
            <a:r>
              <a:rPr lang="en-US" altLang="zh-CN" sz="1800" err="1"/>
              <a:t>ρόλο</a:t>
            </a:r>
            <a:r>
              <a:rPr lang="en-US" altLang="zh-CN" sz="1800"/>
              <a:t> </a:t>
            </a:r>
            <a:r>
              <a:rPr lang="en-US" altLang="zh-CN" sz="1800" err="1"/>
              <a:t>έχουν</a:t>
            </a:r>
            <a:r>
              <a:rPr lang="en-US" altLang="zh-CN" sz="1800"/>
              <a:t> </a:t>
            </a:r>
            <a:r>
              <a:rPr lang="en-US" altLang="zh-CN" sz="1800" err="1"/>
              <a:t>οι</a:t>
            </a:r>
            <a:r>
              <a:rPr lang="en-US" altLang="zh-CN" sz="1800"/>
              <a:t> </a:t>
            </a:r>
            <a:r>
              <a:rPr lang="en-US" altLang="zh-CN" sz="1800" b="1"/>
              <a:t>helper functions,</a:t>
            </a:r>
            <a:r>
              <a:rPr lang="en-US" altLang="zh-CN" sz="1800"/>
              <a:t> </a:t>
            </a:r>
            <a:r>
              <a:rPr lang="en-US" altLang="zh-CN" sz="1800" err="1"/>
              <a:t>οι</a:t>
            </a:r>
            <a:r>
              <a:rPr lang="en-US" altLang="zh-CN" sz="1800"/>
              <a:t> οπ</a:t>
            </a:r>
            <a:r>
              <a:rPr lang="en-US" altLang="zh-CN" sz="1800" err="1"/>
              <a:t>οίες</a:t>
            </a:r>
            <a:r>
              <a:rPr lang="en-US" altLang="zh-CN" sz="1800"/>
              <a:t> </a:t>
            </a:r>
            <a:r>
              <a:rPr lang="en-US" altLang="zh-CN" sz="1800" err="1"/>
              <a:t>είν</a:t>
            </a:r>
            <a:r>
              <a:rPr lang="en-US" altLang="zh-CN" sz="1800"/>
              <a:t>αι </a:t>
            </a:r>
            <a:r>
              <a:rPr lang="en-US" altLang="zh-CN" sz="1800" err="1"/>
              <a:t>συν</a:t>
            </a:r>
            <a:r>
              <a:rPr lang="en-US" altLang="zh-CN" sz="1800"/>
              <a:t>α</a:t>
            </a:r>
            <a:r>
              <a:rPr lang="en-US" altLang="zh-CN" sz="1800" err="1"/>
              <a:t>ρτήσεις</a:t>
            </a:r>
            <a:r>
              <a:rPr lang="en-US" altLang="zh-CN" sz="1800"/>
              <a:t> επανα</a:t>
            </a:r>
            <a:r>
              <a:rPr lang="en-US" altLang="zh-CN" sz="1800" err="1"/>
              <a:t>χρησιμο</a:t>
            </a:r>
            <a:r>
              <a:rPr lang="en-US" altLang="zh-CN" sz="1800"/>
              <a:t>π</a:t>
            </a:r>
            <a:r>
              <a:rPr lang="en-US" altLang="zh-CN" sz="1800" err="1"/>
              <a:t>οιούμενες</a:t>
            </a:r>
            <a:r>
              <a:rPr lang="en-US" altLang="zh-CN" sz="1800"/>
              <a:t>. Επ</a:t>
            </a:r>
            <a:r>
              <a:rPr lang="en-US" altLang="zh-CN" sz="1800" err="1"/>
              <a:t>ιτυγχάνετ</a:t>
            </a:r>
            <a:r>
              <a:rPr lang="en-US" altLang="zh-CN" sz="1800"/>
              <a:t>αι </a:t>
            </a:r>
            <a:r>
              <a:rPr lang="en-US" altLang="zh-CN" sz="1800" err="1"/>
              <a:t>με</a:t>
            </a:r>
            <a:r>
              <a:rPr lang="en-US" altLang="zh-CN" sz="1800"/>
              <a:t> α</a:t>
            </a:r>
            <a:r>
              <a:rPr lang="en-US" altLang="zh-CN" sz="1800" err="1"/>
              <a:t>υτόν</a:t>
            </a:r>
            <a:r>
              <a:rPr lang="en-US" altLang="zh-CN" sz="1800"/>
              <a:t> </a:t>
            </a:r>
            <a:r>
              <a:rPr lang="en-US" altLang="zh-CN" sz="1800" err="1"/>
              <a:t>τον</a:t>
            </a:r>
            <a:r>
              <a:rPr lang="en-US" altLang="zh-CN" sz="1800"/>
              <a:t> </a:t>
            </a:r>
            <a:r>
              <a:rPr lang="en-US" altLang="zh-CN" sz="1800" err="1"/>
              <a:t>τρό</a:t>
            </a:r>
            <a:r>
              <a:rPr lang="en-US" altLang="zh-CN" sz="1800"/>
              <a:t>πο </a:t>
            </a:r>
            <a:r>
              <a:rPr lang="en-US" altLang="zh-CN" sz="1800" err="1"/>
              <a:t>ο</a:t>
            </a:r>
            <a:r>
              <a:rPr lang="en-US" altLang="zh-CN" sz="1800"/>
              <a:t> </a:t>
            </a:r>
            <a:r>
              <a:rPr lang="en-US" altLang="zh-CN" sz="1800" err="1"/>
              <a:t>εύκολος</a:t>
            </a:r>
            <a:r>
              <a:rPr lang="en-US" altLang="zh-CN" sz="1800"/>
              <a:t> </a:t>
            </a:r>
            <a:r>
              <a:rPr lang="en-US" altLang="zh-CN" sz="1800" err="1"/>
              <a:t>εντο</a:t>
            </a:r>
            <a:r>
              <a:rPr lang="en-US" altLang="zh-CN" sz="1800"/>
              <a:t>π</a:t>
            </a:r>
            <a:r>
              <a:rPr lang="en-US" altLang="zh-CN" sz="1800" err="1"/>
              <a:t>ισμός</a:t>
            </a:r>
            <a:r>
              <a:rPr lang="en-US" altLang="zh-CN" sz="1800"/>
              <a:t> </a:t>
            </a:r>
            <a:r>
              <a:rPr lang="en-US" altLang="zh-CN" sz="1800" err="1"/>
              <a:t>σφ</a:t>
            </a:r>
            <a:r>
              <a:rPr lang="en-US" altLang="zh-CN" sz="1800"/>
              <a:t>α</a:t>
            </a:r>
            <a:r>
              <a:rPr lang="en-US" altLang="zh-CN" sz="1800" err="1"/>
              <a:t>λμάτων</a:t>
            </a:r>
            <a:r>
              <a:rPr lang="en-US" altLang="zh-CN" sz="1800"/>
              <a:t>. </a:t>
            </a:r>
            <a:r>
              <a:rPr lang="en-US" altLang="zh-CN" sz="1800" err="1"/>
              <a:t>Ότ</a:t>
            </a:r>
            <a:r>
              <a:rPr lang="en-US" altLang="zh-CN" sz="1800"/>
              <a:t>αν υπ</a:t>
            </a:r>
            <a:r>
              <a:rPr lang="en-US" altLang="zh-CN" sz="1800" err="1"/>
              <a:t>άρξει</a:t>
            </a:r>
            <a:r>
              <a:rPr lang="en-US" altLang="zh-CN" sz="1800"/>
              <a:t> </a:t>
            </a:r>
            <a:r>
              <a:rPr lang="en-US" altLang="zh-CN" sz="1800" err="1"/>
              <a:t>έν</a:t>
            </a:r>
            <a:r>
              <a:rPr lang="en-US" altLang="zh-CN" sz="1800"/>
              <a:t>α </a:t>
            </a:r>
            <a:r>
              <a:rPr lang="en-US" altLang="zh-CN" sz="1800" err="1"/>
              <a:t>λάθος</a:t>
            </a:r>
            <a:r>
              <a:rPr lang="en-US" altLang="zh-CN" sz="1800"/>
              <a:t> ή π</a:t>
            </a:r>
            <a:r>
              <a:rPr lang="en-US" altLang="zh-CN" sz="1800" err="1"/>
              <a:t>ρέ</a:t>
            </a:r>
            <a:r>
              <a:rPr lang="en-US" altLang="zh-CN" sz="1800"/>
              <a:t>π</a:t>
            </a:r>
            <a:r>
              <a:rPr lang="en-US" altLang="zh-CN" sz="1800" err="1"/>
              <a:t>ει</a:t>
            </a:r>
            <a:r>
              <a:rPr lang="en-US" altLang="zh-CN" sz="1800"/>
              <a:t> να </a:t>
            </a:r>
            <a:r>
              <a:rPr lang="en-US" altLang="zh-CN" sz="1800" err="1"/>
              <a:t>γίνει</a:t>
            </a:r>
            <a:r>
              <a:rPr lang="en-US" altLang="zh-CN" sz="1800"/>
              <a:t> </a:t>
            </a:r>
            <a:r>
              <a:rPr lang="en-US" altLang="zh-CN" sz="1800" err="1"/>
              <a:t>μι</a:t>
            </a:r>
            <a:r>
              <a:rPr lang="en-US" altLang="zh-CN" sz="1800"/>
              <a:t>α α</a:t>
            </a:r>
            <a:r>
              <a:rPr lang="en-US" altLang="zh-CN" sz="1800" err="1"/>
              <a:t>λλ</a:t>
            </a:r>
            <a:r>
              <a:rPr lang="en-US" altLang="zh-CN" sz="1800"/>
              <a:t>α</a:t>
            </a:r>
            <a:r>
              <a:rPr lang="en-US" altLang="zh-CN" sz="1800" err="1"/>
              <a:t>γή</a:t>
            </a:r>
            <a:r>
              <a:rPr lang="en-US" altLang="zh-CN" sz="1800"/>
              <a:t> </a:t>
            </a:r>
            <a:r>
              <a:rPr lang="en-US" altLang="zh-CN" sz="1800" err="1"/>
              <a:t>στον</a:t>
            </a:r>
            <a:r>
              <a:rPr lang="en-US" altLang="zh-CN" sz="1800"/>
              <a:t> </a:t>
            </a:r>
            <a:r>
              <a:rPr lang="en-US" altLang="zh-CN" sz="1800" err="1"/>
              <a:t>κώδικ</a:t>
            </a:r>
            <a:r>
              <a:rPr lang="en-US" altLang="zh-CN" sz="1800"/>
              <a:t>α, </a:t>
            </a:r>
            <a:r>
              <a:rPr lang="en-US" altLang="zh-CN" sz="1800" err="1"/>
              <a:t>τότε</a:t>
            </a:r>
            <a:r>
              <a:rPr lang="en-US" altLang="zh-CN" sz="1800"/>
              <a:t> π</a:t>
            </a:r>
            <a:r>
              <a:rPr lang="en-US" altLang="zh-CN" sz="1800" err="1"/>
              <a:t>ροτρέχουμε</a:t>
            </a:r>
            <a:r>
              <a:rPr lang="en-US" altLang="zh-CN" sz="1800"/>
              <a:t> </a:t>
            </a:r>
            <a:r>
              <a:rPr lang="en-US" altLang="zh-CN" sz="1800" err="1"/>
              <a:t>στην</a:t>
            </a:r>
            <a:r>
              <a:rPr lang="en-US" altLang="zh-CN" sz="1800"/>
              <a:t> function, </a:t>
            </a:r>
            <a:r>
              <a:rPr lang="en-US" altLang="zh-CN" sz="1800" err="1"/>
              <a:t>γίνετ</a:t>
            </a:r>
            <a:r>
              <a:rPr lang="en-US" altLang="zh-CN" sz="1800"/>
              <a:t>αι η α</a:t>
            </a:r>
            <a:r>
              <a:rPr lang="en-US" altLang="zh-CN" sz="1800" err="1"/>
              <a:t>λλ</a:t>
            </a:r>
            <a:r>
              <a:rPr lang="en-US" altLang="zh-CN" sz="1800"/>
              <a:t>α</a:t>
            </a:r>
            <a:r>
              <a:rPr lang="en-US" altLang="zh-CN" sz="1800" err="1"/>
              <a:t>γή</a:t>
            </a:r>
            <a:r>
              <a:rPr lang="en-US" altLang="zh-CN" sz="1800"/>
              <a:t> </a:t>
            </a:r>
            <a:r>
              <a:rPr lang="en-US" altLang="zh-CN" sz="1800" err="1"/>
              <a:t>το</a:t>
            </a:r>
            <a:r>
              <a:rPr lang="en-US" altLang="zh-CN" sz="1800"/>
              <a:t>π</a:t>
            </a:r>
            <a:r>
              <a:rPr lang="en-US" altLang="zh-CN" sz="1800" err="1"/>
              <a:t>ικά</a:t>
            </a:r>
            <a:r>
              <a:rPr lang="en-US" altLang="zh-CN" sz="1800"/>
              <a:t> και </a:t>
            </a:r>
            <a:r>
              <a:rPr lang="en-US" altLang="zh-CN" sz="1800" err="1"/>
              <a:t>χρησιμο</a:t>
            </a:r>
            <a:r>
              <a:rPr lang="en-US" altLang="zh-CN" sz="1800"/>
              <a:t>π</a:t>
            </a:r>
            <a:r>
              <a:rPr lang="en-US" altLang="zh-CN" sz="1800" err="1"/>
              <a:t>οιείτ</a:t>
            </a:r>
            <a:r>
              <a:rPr lang="en-US" altLang="zh-CN" sz="1800"/>
              <a:t>αι </a:t>
            </a:r>
            <a:r>
              <a:rPr lang="en-US" altLang="zh-CN" sz="1800" err="1"/>
              <a:t>σε</a:t>
            </a:r>
            <a:r>
              <a:rPr lang="en-US" altLang="zh-CN" sz="1800"/>
              <a:t> οπ</a:t>
            </a:r>
            <a:r>
              <a:rPr lang="en-US" altLang="zh-CN" sz="1800" err="1"/>
              <a:t>οιοδή</a:t>
            </a:r>
            <a:r>
              <a:rPr lang="en-US" altLang="zh-CN" sz="1800"/>
              <a:t>π</a:t>
            </a:r>
            <a:r>
              <a:rPr lang="en-US" altLang="zh-CN" sz="1800" err="1"/>
              <a:t>οτε</a:t>
            </a:r>
            <a:r>
              <a:rPr lang="en-US" altLang="zh-CN" sz="1800"/>
              <a:t> </a:t>
            </a:r>
            <a:r>
              <a:rPr lang="en-US" altLang="zh-CN" sz="1800" err="1"/>
              <a:t>σημείο</a:t>
            </a:r>
            <a:r>
              <a:rPr lang="en-US" altLang="zh-CN" sz="1800"/>
              <a:t> </a:t>
            </a:r>
            <a:r>
              <a:rPr lang="en-US" altLang="zh-CN" sz="1800" err="1"/>
              <a:t>του</a:t>
            </a:r>
            <a:r>
              <a:rPr lang="en-US" altLang="zh-CN" sz="1800"/>
              <a:t> </a:t>
            </a:r>
            <a:r>
              <a:rPr lang="en-US" altLang="zh-CN" sz="1800" err="1"/>
              <a:t>κώδικ</a:t>
            </a:r>
            <a:r>
              <a:rPr lang="en-US" altLang="zh-CN" sz="1800"/>
              <a:t>α. </a:t>
            </a:r>
            <a:endParaRPr lang="en-US">
              <a:cs typeface="Arial"/>
            </a:endParaRPr>
          </a:p>
          <a:p>
            <a:pPr algn="l"/>
            <a:r>
              <a:rPr lang="en-US" altLang="zh-CN" sz="1600">
                <a:cs typeface="Arial"/>
              </a:rPr>
              <a:t> </a:t>
            </a:r>
            <a:r>
              <a:rPr lang="en-US" altLang="zh-CN" sz="1600" err="1">
                <a:cs typeface="Arial"/>
              </a:rPr>
              <a:t>Στην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εφ</a:t>
            </a:r>
            <a:r>
              <a:rPr lang="en-US" altLang="zh-CN" sz="1600">
                <a:cs typeface="Arial"/>
              </a:rPr>
              <a:t>α</a:t>
            </a:r>
            <a:r>
              <a:rPr lang="en-US" altLang="zh-CN" sz="1600" err="1">
                <a:cs typeface="Arial"/>
              </a:rPr>
              <a:t>ρμογή</a:t>
            </a:r>
            <a:r>
              <a:rPr lang="en-US" altLang="zh-CN" sz="1600">
                <a:cs typeface="Arial"/>
              </a:rPr>
              <a:t> π</a:t>
            </a:r>
            <a:r>
              <a:rPr lang="en-US" altLang="zh-CN" sz="1600" err="1">
                <a:cs typeface="Arial"/>
              </a:rPr>
              <a:t>ου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έχει</a:t>
            </a:r>
            <a:r>
              <a:rPr lang="en-US" altLang="zh-CN" sz="1600">
                <a:cs typeface="Arial"/>
              </a:rPr>
              <a:t> αναπ</a:t>
            </a:r>
            <a:r>
              <a:rPr lang="en-US" altLang="zh-CN" sz="1600" err="1">
                <a:cs typeface="Arial"/>
              </a:rPr>
              <a:t>τυχθεί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συν</a:t>
            </a:r>
            <a:r>
              <a:rPr lang="en-US" altLang="zh-CN" sz="1600">
                <a:cs typeface="Arial"/>
              </a:rPr>
              <a:t>α</a:t>
            </a:r>
            <a:r>
              <a:rPr lang="en-US" altLang="zh-CN" sz="1600" err="1">
                <a:cs typeface="Arial"/>
              </a:rPr>
              <a:t>ντάμε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τις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εξής</a:t>
            </a:r>
            <a:r>
              <a:rPr lang="en-US" altLang="zh-CN" sz="1600">
                <a:cs typeface="Arial"/>
              </a:rPr>
              <a:t> helper functions:</a:t>
            </a:r>
            <a:endParaRPr lang="en-US">
              <a:cs typeface="Arial"/>
            </a:endParaRPr>
          </a:p>
          <a:p>
            <a:pPr marL="285750" indent="-285750" algn="l">
              <a:buChar char="•"/>
            </a:pPr>
            <a:r>
              <a:rPr lang="en-US" altLang="zh-CN" sz="1600" err="1">
                <a:cs typeface="Arial"/>
              </a:rPr>
              <a:t>display_result</a:t>
            </a:r>
            <a:r>
              <a:rPr lang="en-US" altLang="zh-CN" sz="1600">
                <a:cs typeface="Arial"/>
              </a:rPr>
              <a:t>() - </a:t>
            </a:r>
            <a:r>
              <a:rPr lang="en-US" altLang="zh-CN" sz="1600" err="1">
                <a:cs typeface="Arial"/>
              </a:rPr>
              <a:t>εμφ</a:t>
            </a:r>
            <a:r>
              <a:rPr lang="en-US" altLang="zh-CN" sz="1600">
                <a:cs typeface="Arial"/>
              </a:rPr>
              <a:t>α</a:t>
            </a:r>
            <a:r>
              <a:rPr lang="en-US" altLang="zh-CN" sz="1600" err="1">
                <a:cs typeface="Arial"/>
              </a:rPr>
              <a:t>νίζει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το</a:t>
            </a:r>
            <a:r>
              <a:rPr lang="en-US" altLang="zh-CN" sz="1600">
                <a:cs typeface="Arial"/>
              </a:rPr>
              <a:t> απ</a:t>
            </a:r>
            <a:r>
              <a:rPr lang="en-US" altLang="zh-CN" sz="1600" err="1">
                <a:cs typeface="Arial"/>
              </a:rPr>
              <a:t>οτέλεσμ</a:t>
            </a:r>
            <a:r>
              <a:rPr lang="en-US" altLang="zh-CN" sz="1600">
                <a:cs typeface="Arial"/>
              </a:rPr>
              <a:t>α </a:t>
            </a:r>
            <a:r>
              <a:rPr lang="en-US" altLang="zh-CN" sz="1600" err="1">
                <a:cs typeface="Arial"/>
              </a:rPr>
              <a:t>στον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χρήστη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μορφο</a:t>
            </a:r>
            <a:r>
              <a:rPr lang="en-US" altLang="zh-CN" sz="1600">
                <a:cs typeface="Arial"/>
              </a:rPr>
              <a:t>π</a:t>
            </a:r>
            <a:r>
              <a:rPr lang="en-US" altLang="zh-CN" sz="1600" err="1">
                <a:cs typeface="Arial"/>
              </a:rPr>
              <a:t>οιημένο</a:t>
            </a:r>
            <a:r>
              <a:rPr lang="en-US" altLang="zh-CN" sz="1600">
                <a:cs typeface="Arial"/>
              </a:rPr>
              <a:t>.</a:t>
            </a:r>
          </a:p>
          <a:p>
            <a:pPr marL="285750" indent="-285750" algn="l">
              <a:buChar char="•"/>
            </a:pPr>
            <a:r>
              <a:rPr lang="en-US" altLang="zh-CN" sz="1600">
                <a:cs typeface="Arial"/>
              </a:rPr>
              <a:t>x = </a:t>
            </a:r>
            <a:r>
              <a:rPr lang="en-US" altLang="zh-CN" sz="1600" err="1">
                <a:cs typeface="Arial"/>
              </a:rPr>
              <a:t>angle_in_degrees</a:t>
            </a:r>
            <a:r>
              <a:rPr lang="en-US" altLang="zh-CN" sz="1600">
                <a:cs typeface="Arial"/>
              </a:rPr>
              <a:t>() - </a:t>
            </a:r>
            <a:r>
              <a:rPr lang="en-US" altLang="zh-CN" sz="1600" err="1">
                <a:cs typeface="Arial"/>
              </a:rPr>
              <a:t>μετ</a:t>
            </a:r>
            <a:r>
              <a:rPr lang="en-US" altLang="zh-CN" sz="1600">
                <a:cs typeface="Arial"/>
              </a:rPr>
              <a:t>α</a:t>
            </a:r>
            <a:r>
              <a:rPr lang="en-US" altLang="zh-CN" sz="1600" err="1">
                <a:cs typeface="Arial"/>
              </a:rPr>
              <a:t>τρέ</a:t>
            </a:r>
            <a:r>
              <a:rPr lang="en-US" altLang="zh-CN" sz="1600">
                <a:cs typeface="Arial"/>
              </a:rPr>
              <a:t>π</a:t>
            </a:r>
            <a:r>
              <a:rPr lang="en-US" altLang="zh-CN" sz="1600" err="1">
                <a:cs typeface="Arial"/>
              </a:rPr>
              <a:t>ει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τη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γωνί</a:t>
            </a:r>
            <a:r>
              <a:rPr lang="en-US" altLang="zh-CN" sz="1600">
                <a:cs typeface="Arial"/>
              </a:rPr>
              <a:t>α </a:t>
            </a:r>
            <a:r>
              <a:rPr lang="en-US" altLang="zh-CN" sz="1600" err="1">
                <a:cs typeface="Arial"/>
              </a:rPr>
              <a:t>σε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μοίρες</a:t>
            </a:r>
            <a:r>
              <a:rPr lang="en-US" altLang="zh-CN" sz="1600">
                <a:cs typeface="Arial"/>
              </a:rPr>
              <a:t>.</a:t>
            </a:r>
          </a:p>
          <a:p>
            <a:pPr marL="285750" indent="-285750" algn="l">
              <a:buChar char="•"/>
            </a:pPr>
            <a:r>
              <a:rPr lang="en-US" altLang="zh-CN" sz="1600" err="1">
                <a:cs typeface="Arial"/>
              </a:rPr>
              <a:t>show_constants</a:t>
            </a:r>
            <a:r>
              <a:rPr lang="en-US" altLang="zh-CN" sz="1600">
                <a:cs typeface="Arial"/>
              </a:rPr>
              <a:t>() - π</a:t>
            </a:r>
            <a:r>
              <a:rPr lang="en-US" altLang="zh-CN" sz="1600" err="1">
                <a:cs typeface="Arial"/>
              </a:rPr>
              <a:t>ρο</a:t>
            </a:r>
            <a:r>
              <a:rPr lang="en-US" altLang="zh-CN" sz="1600">
                <a:cs typeface="Arial"/>
              </a:rPr>
              <a:t>β</a:t>
            </a:r>
            <a:r>
              <a:rPr lang="en-US" altLang="zh-CN" sz="1600" err="1">
                <a:cs typeface="Arial"/>
              </a:rPr>
              <a:t>άλει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τις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στ</a:t>
            </a:r>
            <a:r>
              <a:rPr lang="en-US" altLang="zh-CN" sz="1600">
                <a:cs typeface="Arial"/>
              </a:rPr>
              <a:t>α</a:t>
            </a:r>
            <a:r>
              <a:rPr lang="en-US" altLang="zh-CN" sz="1600" err="1">
                <a:cs typeface="Arial"/>
              </a:rPr>
              <a:t>θερές</a:t>
            </a:r>
            <a:r>
              <a:rPr lang="en-US" altLang="zh-CN" sz="1600">
                <a:cs typeface="Arial"/>
              </a:rPr>
              <a:t>.</a:t>
            </a:r>
          </a:p>
          <a:p>
            <a:pPr marL="285750" indent="-285750" algn="l">
              <a:buChar char="•"/>
            </a:pPr>
            <a:r>
              <a:rPr lang="en-US" altLang="zh-CN" sz="1600">
                <a:cs typeface="Arial"/>
              </a:rPr>
              <a:t>result = </a:t>
            </a:r>
            <a:r>
              <a:rPr lang="en-US" altLang="zh-CN" sz="1600" err="1">
                <a:cs typeface="Arial"/>
              </a:rPr>
              <a:t>comma_replace</a:t>
            </a:r>
            <a:r>
              <a:rPr lang="en-US" altLang="zh-CN" sz="1600">
                <a:cs typeface="Arial"/>
              </a:rPr>
              <a:t>(x) - α</a:t>
            </a:r>
            <a:r>
              <a:rPr lang="en-US" altLang="zh-CN" sz="1600" err="1">
                <a:cs typeface="Arial"/>
              </a:rPr>
              <a:t>ντικ</a:t>
            </a:r>
            <a:r>
              <a:rPr lang="en-US" altLang="zh-CN" sz="1600">
                <a:cs typeface="Arial"/>
              </a:rPr>
              <a:t>α</a:t>
            </a:r>
            <a:r>
              <a:rPr lang="en-US" altLang="zh-CN" sz="1600" err="1">
                <a:cs typeface="Arial"/>
              </a:rPr>
              <a:t>θιστά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το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κόμμ</a:t>
            </a:r>
            <a:r>
              <a:rPr lang="en-US" altLang="zh-CN" sz="1600">
                <a:cs typeface="Arial"/>
              </a:rPr>
              <a:t>α (,) </a:t>
            </a:r>
            <a:r>
              <a:rPr lang="en-US" altLang="zh-CN" sz="1600" err="1">
                <a:cs typeface="Arial"/>
              </a:rPr>
              <a:t>με</a:t>
            </a:r>
            <a:r>
              <a:rPr lang="en-US" altLang="zh-CN" sz="1600">
                <a:cs typeface="Arial"/>
              </a:rPr>
              <a:t> </a:t>
            </a:r>
            <a:r>
              <a:rPr lang="en-US" altLang="zh-CN" sz="1600" err="1">
                <a:cs typeface="Arial"/>
              </a:rPr>
              <a:t>τελεί</a:t>
            </a:r>
            <a:r>
              <a:rPr lang="en-US" altLang="zh-CN" sz="1600">
                <a:cs typeface="Arial"/>
              </a:rPr>
              <a:t>α (.).</a:t>
            </a:r>
          </a:p>
          <a:p>
            <a:pPr algn="l">
              <a:buChar char="•"/>
            </a:pPr>
            <a:endParaRPr lang="en-US" altLang="zh-CN" sz="18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4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38915E-2F20-69EC-E31B-DEC148252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64" y="1197396"/>
            <a:ext cx="6705117" cy="1050638"/>
          </a:xfrm>
        </p:spPr>
        <p:txBody>
          <a:bodyPr/>
          <a:lstStyle/>
          <a:p>
            <a:r>
              <a:rPr lang="en-US" altLang="zh-CN" sz="4000">
                <a:latin typeface="Arial"/>
                <a:cs typeface="Arial"/>
              </a:rPr>
              <a:t>Graphical User Interface (GUI)</a:t>
            </a:r>
            <a:endParaRPr lang="en-US" altLang="zh-CN" sz="4000">
              <a:latin typeface="Arial"/>
              <a:ea typeface="Segoe UI Black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AA989-BEE2-83F0-65D3-24D10A52C7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285" y="1314680"/>
            <a:ext cx="638876" cy="475887"/>
          </a:xfrm>
        </p:spPr>
        <p:txBody>
          <a:bodyPr/>
          <a:lstStyle/>
          <a:p>
            <a:r>
              <a:rPr lang="en-US" altLang="zh-CN" sz="2600"/>
              <a:t>05</a:t>
            </a:r>
            <a:endParaRPr lang="zh-CN" altLang="en-US" sz="260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5AB749B8-9086-0121-7690-9A8627926A8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1174" t="883" r="11321" b="-1104"/>
          <a:stretch>
            <a:fillRect/>
          </a:stretch>
        </p:blipFill>
        <p:spPr>
          <a:xfrm>
            <a:off x="7961312" y="1366170"/>
            <a:ext cx="3104729" cy="43843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7B2056-E6E0-2E7B-71E5-D4E50AA7FEED}"/>
              </a:ext>
            </a:extLst>
          </p:cNvPr>
          <p:cNvSpPr txBox="1">
            <a:spLocks/>
          </p:cNvSpPr>
          <p:nvPr/>
        </p:nvSpPr>
        <p:spPr>
          <a:xfrm>
            <a:off x="631964" y="2568000"/>
            <a:ext cx="7187085" cy="3417510"/>
          </a:xfrm>
          <a:prstGeom prst="rect">
            <a:avLst/>
          </a:prstGeom>
        </p:spPr>
        <p:txBody>
          <a:bodyPr vert="horz" lIns="0" tIns="0" rIns="0" bIns="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latin typeface="Arial"/>
                <a:cs typeface="Arial"/>
              </a:rPr>
              <a:t> </a:t>
            </a:r>
            <a:r>
              <a:rPr lang="en-US" altLang="zh-CN" sz="1800" err="1">
                <a:latin typeface="Arial"/>
                <a:cs typeface="Arial"/>
              </a:rPr>
              <a:t>Το</a:t>
            </a:r>
            <a:r>
              <a:rPr lang="en-US" altLang="zh-CN" sz="1800">
                <a:latin typeface="Arial"/>
                <a:cs typeface="Arial"/>
              </a:rPr>
              <a:t> GUI </a:t>
            </a:r>
            <a:r>
              <a:rPr lang="en-US" altLang="zh-CN" sz="1800" err="1">
                <a:latin typeface="Arial"/>
                <a:cs typeface="Arial"/>
              </a:rPr>
              <a:t>της</a:t>
            </a:r>
            <a:r>
              <a:rPr lang="en-US" altLang="zh-CN" sz="1800">
                <a:latin typeface="Arial"/>
                <a:cs typeface="Arial"/>
              </a:rPr>
              <a:t> </a:t>
            </a:r>
            <a:r>
              <a:rPr lang="en-US" altLang="zh-CN" sz="1800" err="1">
                <a:latin typeface="Arial"/>
                <a:cs typeface="Arial"/>
              </a:rPr>
              <a:t>εφ</a:t>
            </a:r>
            <a:r>
              <a:rPr lang="en-US" altLang="zh-CN" sz="1800">
                <a:latin typeface="Arial"/>
                <a:cs typeface="Arial"/>
              </a:rPr>
              <a:t>α</a:t>
            </a:r>
            <a:r>
              <a:rPr lang="en-US" altLang="zh-CN" sz="1800" err="1">
                <a:latin typeface="Arial"/>
                <a:cs typeface="Arial"/>
              </a:rPr>
              <a:t>ρμογής</a:t>
            </a:r>
            <a:r>
              <a:rPr lang="en-US" altLang="zh-CN" sz="1800">
                <a:latin typeface="Arial"/>
                <a:cs typeface="Arial"/>
              </a:rPr>
              <a:t> </a:t>
            </a:r>
            <a:r>
              <a:rPr lang="en-US" altLang="zh-CN" sz="1800" err="1">
                <a:latin typeface="Arial"/>
                <a:cs typeface="Arial"/>
              </a:rPr>
              <a:t>έχει</a:t>
            </a:r>
            <a:r>
              <a:rPr lang="en-US" altLang="zh-CN" sz="1800">
                <a:latin typeface="Arial"/>
                <a:cs typeface="Arial"/>
              </a:rPr>
              <a:t> </a:t>
            </a:r>
            <a:r>
              <a:rPr lang="en-US" altLang="zh-CN" sz="1800" err="1">
                <a:latin typeface="Arial"/>
                <a:cs typeface="Arial"/>
              </a:rPr>
              <a:t>υλο</a:t>
            </a:r>
            <a:r>
              <a:rPr lang="en-US" altLang="zh-CN" sz="1800">
                <a:latin typeface="Arial"/>
                <a:cs typeface="Arial"/>
              </a:rPr>
              <a:t>π</a:t>
            </a:r>
            <a:r>
              <a:rPr lang="en-US" altLang="zh-CN" sz="1800" err="1">
                <a:latin typeface="Arial"/>
                <a:cs typeface="Arial"/>
              </a:rPr>
              <a:t>οιηθεί</a:t>
            </a:r>
            <a:r>
              <a:rPr lang="en-US" altLang="zh-CN" sz="1800">
                <a:latin typeface="Arial"/>
                <a:cs typeface="Arial"/>
              </a:rPr>
              <a:t> </a:t>
            </a:r>
            <a:r>
              <a:rPr lang="en-US" altLang="zh-CN" sz="1800" err="1">
                <a:latin typeface="Arial"/>
                <a:cs typeface="Arial"/>
              </a:rPr>
              <a:t>με</a:t>
            </a:r>
            <a:r>
              <a:rPr lang="en-US" altLang="zh-CN" sz="1800">
                <a:latin typeface="Arial"/>
                <a:cs typeface="Arial"/>
              </a:rPr>
              <a:t> </a:t>
            </a:r>
            <a:r>
              <a:rPr lang="en-US" altLang="zh-CN" sz="1800" err="1">
                <a:latin typeface="Arial"/>
                <a:cs typeface="Arial"/>
              </a:rPr>
              <a:t>τη</a:t>
            </a:r>
            <a:r>
              <a:rPr lang="en-US" altLang="zh-CN" sz="1800">
                <a:latin typeface="Arial"/>
                <a:cs typeface="Arial"/>
              </a:rPr>
              <a:t> β</a:t>
            </a:r>
            <a:r>
              <a:rPr lang="en-US" altLang="zh-CN" sz="1800" err="1">
                <a:latin typeface="Arial"/>
                <a:cs typeface="Arial"/>
              </a:rPr>
              <a:t>οήθει</a:t>
            </a:r>
            <a:r>
              <a:rPr lang="en-US" altLang="zh-CN" sz="1800">
                <a:latin typeface="Arial"/>
                <a:cs typeface="Arial"/>
              </a:rPr>
              <a:t>α </a:t>
            </a:r>
            <a:r>
              <a:rPr lang="en-US" altLang="zh-CN" sz="1800" err="1">
                <a:latin typeface="Arial"/>
                <a:cs typeface="Arial"/>
              </a:rPr>
              <a:t>του</a:t>
            </a:r>
            <a:r>
              <a:rPr lang="en-US" altLang="zh-CN" sz="1800">
                <a:latin typeface="Arial"/>
                <a:cs typeface="Arial"/>
              </a:rPr>
              <a:t> App Designer, </a:t>
            </a:r>
            <a:r>
              <a:rPr lang="en-US" altLang="zh-CN" sz="1800" err="1">
                <a:latin typeface="Arial"/>
                <a:cs typeface="Arial"/>
              </a:rPr>
              <a:t>το</a:t>
            </a:r>
            <a:r>
              <a:rPr lang="en-US" altLang="zh-CN" sz="1800">
                <a:latin typeface="Arial"/>
                <a:cs typeface="Arial"/>
              </a:rPr>
              <a:t> οπ</a:t>
            </a:r>
            <a:r>
              <a:rPr lang="en-US" altLang="zh-CN" sz="1800" err="1">
                <a:latin typeface="Arial"/>
                <a:cs typeface="Arial"/>
              </a:rPr>
              <a:t>οίο</a:t>
            </a:r>
            <a:r>
              <a:rPr lang="en-US" altLang="zh-CN" sz="1800">
                <a:latin typeface="Arial"/>
                <a:cs typeface="Arial"/>
              </a:rPr>
              <a:t> π</a:t>
            </a:r>
            <a:r>
              <a:rPr lang="en-US" altLang="zh-CN" sz="1800" err="1">
                <a:latin typeface="Arial"/>
                <a:cs typeface="Arial"/>
              </a:rPr>
              <a:t>ροσφέρει</a:t>
            </a:r>
            <a:r>
              <a:rPr lang="en-US" altLang="zh-CN" sz="1800">
                <a:latin typeface="Arial"/>
                <a:cs typeface="Arial"/>
              </a:rPr>
              <a:t> </a:t>
            </a:r>
            <a:r>
              <a:rPr lang="en-US" altLang="zh-CN" sz="1800" err="1">
                <a:latin typeface="Arial"/>
                <a:cs typeface="Arial"/>
              </a:rPr>
              <a:t>το</a:t>
            </a:r>
            <a:r>
              <a:rPr lang="en-US" altLang="zh-CN" sz="1800">
                <a:latin typeface="Arial"/>
                <a:cs typeface="Arial"/>
              </a:rPr>
              <a:t> MATLAB. </a:t>
            </a:r>
            <a:r>
              <a:rPr lang="en-US" altLang="zh-CN" sz="1800" err="1">
                <a:latin typeface="Arial"/>
                <a:cs typeface="Arial"/>
              </a:rPr>
              <a:t>Σε</a:t>
            </a:r>
            <a:r>
              <a:rPr lang="en-US" altLang="zh-CN" sz="1800">
                <a:latin typeface="Arial"/>
                <a:cs typeface="Arial"/>
              </a:rPr>
              <a:t> </a:t>
            </a:r>
            <a:r>
              <a:rPr lang="en-US" altLang="zh-CN" sz="1800" err="1">
                <a:latin typeface="Arial"/>
                <a:cs typeface="Arial"/>
              </a:rPr>
              <a:t>μι</a:t>
            </a:r>
            <a:r>
              <a:rPr lang="en-US" altLang="zh-CN" sz="1800">
                <a:latin typeface="Arial"/>
                <a:cs typeface="Arial"/>
              </a:rPr>
              <a:t>α </a:t>
            </a:r>
            <a:r>
              <a:rPr lang="en-US" altLang="zh-CN" sz="1800" err="1">
                <a:latin typeface="Arial"/>
                <a:cs typeface="Arial"/>
              </a:rPr>
              <a:t>εφ</a:t>
            </a:r>
            <a:r>
              <a:rPr lang="en-US" altLang="zh-CN" sz="1800">
                <a:latin typeface="Arial"/>
                <a:cs typeface="Arial"/>
              </a:rPr>
              <a:t>α</a:t>
            </a:r>
            <a:r>
              <a:rPr lang="en-US" altLang="zh-CN" sz="1800" err="1">
                <a:latin typeface="Arial"/>
                <a:cs typeface="Arial"/>
              </a:rPr>
              <a:t>ρμογή</a:t>
            </a:r>
            <a:r>
              <a:rPr lang="en-US" altLang="zh-CN" sz="1800">
                <a:latin typeface="Arial"/>
                <a:cs typeface="Arial"/>
              </a:rPr>
              <a:t> </a:t>
            </a:r>
            <a:r>
              <a:rPr lang="en-US" altLang="zh-CN" sz="1800" err="1">
                <a:latin typeface="Arial"/>
                <a:cs typeface="Arial"/>
              </a:rPr>
              <a:t>είν</a:t>
            </a:r>
            <a:r>
              <a:rPr lang="en-US" altLang="zh-CN" sz="1800">
                <a:latin typeface="Arial"/>
                <a:cs typeface="Arial"/>
              </a:rPr>
              <a:t>αι π</a:t>
            </a:r>
            <a:r>
              <a:rPr lang="en-US" altLang="zh-CN" sz="1800" err="1">
                <a:latin typeface="Arial"/>
                <a:cs typeface="Arial"/>
              </a:rPr>
              <a:t>ολύ</a:t>
            </a:r>
            <a:r>
              <a:rPr lang="en-US" altLang="zh-CN" sz="1800">
                <a:latin typeface="Arial"/>
                <a:cs typeface="Arial"/>
              </a:rPr>
              <a:t> </a:t>
            </a:r>
            <a:r>
              <a:rPr lang="en-US" altLang="zh-CN" sz="1800" err="1">
                <a:latin typeface="Arial"/>
                <a:cs typeface="Arial"/>
              </a:rPr>
              <a:t>σημ</a:t>
            </a:r>
            <a:r>
              <a:rPr lang="en-US" altLang="zh-CN" sz="1800">
                <a:latin typeface="Arial"/>
                <a:cs typeface="Arial"/>
              </a:rPr>
              <a:t>α</a:t>
            </a:r>
            <a:r>
              <a:rPr lang="en-US" altLang="zh-CN" sz="1800" err="1">
                <a:latin typeface="Arial"/>
                <a:cs typeface="Arial"/>
              </a:rPr>
              <a:t>ντική</a:t>
            </a:r>
            <a:r>
              <a:rPr lang="en-US" altLang="zh-CN" sz="1800">
                <a:latin typeface="Arial"/>
                <a:cs typeface="Arial"/>
              </a:rPr>
              <a:t> η </a:t>
            </a:r>
            <a:r>
              <a:rPr lang="en-US" altLang="zh-CN" sz="1800" err="1">
                <a:latin typeface="Arial"/>
                <a:cs typeface="Arial"/>
              </a:rPr>
              <a:t>διε</a:t>
            </a:r>
            <a:r>
              <a:rPr lang="en-US" altLang="zh-CN" sz="1800">
                <a:latin typeface="Arial"/>
                <a:cs typeface="Arial"/>
              </a:rPr>
              <a:t>πα</a:t>
            </a:r>
            <a:r>
              <a:rPr lang="en-US" altLang="zh-CN" sz="1800" err="1">
                <a:latin typeface="Arial"/>
                <a:cs typeface="Arial"/>
              </a:rPr>
              <a:t>φή</a:t>
            </a:r>
            <a:r>
              <a:rPr lang="en-US" altLang="zh-CN" sz="1800">
                <a:latin typeface="Arial"/>
                <a:cs typeface="Arial"/>
              </a:rPr>
              <a:t> </a:t>
            </a:r>
            <a:r>
              <a:rPr lang="en-US" altLang="zh-CN" sz="1800" err="1">
                <a:latin typeface="Arial"/>
                <a:cs typeface="Arial"/>
              </a:rPr>
              <a:t>χρήστη</a:t>
            </a:r>
            <a:r>
              <a:rPr lang="en-US" altLang="zh-CN" sz="1800">
                <a:latin typeface="Arial"/>
                <a:cs typeface="Arial"/>
              </a:rPr>
              <a:t> </a:t>
            </a:r>
            <a:r>
              <a:rPr lang="en-US" altLang="zh-CN" sz="1800" err="1">
                <a:latin typeface="Arial"/>
                <a:cs typeface="Arial"/>
              </a:rPr>
              <a:t>γι</a:t>
            </a:r>
            <a:r>
              <a:rPr lang="en-US" altLang="zh-CN" sz="1800">
                <a:latin typeface="Arial"/>
                <a:cs typeface="Arial"/>
              </a:rPr>
              <a:t>α</a:t>
            </a:r>
            <a:r>
              <a:rPr lang="en-US" altLang="zh-CN" sz="1800" err="1">
                <a:latin typeface="Arial"/>
                <a:cs typeface="Arial"/>
              </a:rPr>
              <a:t>τί</a:t>
            </a:r>
            <a:r>
              <a:rPr lang="en-US" altLang="zh-CN" sz="1800">
                <a:latin typeface="Arial"/>
                <a:cs typeface="Arial"/>
              </a:rPr>
              <a:t>: </a:t>
            </a:r>
            <a:endParaRPr lang="en-US" altLang="zh-CN" sz="1800">
              <a:latin typeface="Arial"/>
              <a:ea typeface="Segoe UI Black"/>
              <a:cs typeface="Arial"/>
            </a:endParaRPr>
          </a:p>
          <a:p>
            <a:pPr marL="285750" indent="-285750">
              <a:buChar char="•"/>
            </a:pPr>
            <a:r>
              <a:rPr lang="en-US" altLang="zh-CN" sz="1800">
                <a:latin typeface="Arial"/>
                <a:ea typeface="Segoe UI Black"/>
                <a:cs typeface="Arial"/>
              </a:rPr>
              <a:t>Κα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θορίζει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την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εμ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π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ειρί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α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του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χρήστη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err="1">
                <a:latin typeface="Arial"/>
                <a:ea typeface="Segoe UI Black"/>
                <a:cs typeface="Arial"/>
              </a:rPr>
              <a:t>Διευκολύνει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τη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χρήση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της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εφ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α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ρμογής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err="1">
                <a:latin typeface="Arial"/>
                <a:ea typeface="Segoe UI Black"/>
                <a:cs typeface="Arial"/>
              </a:rPr>
              <a:t>Αντικ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α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το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π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τρίζει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την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π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οιότητ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α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της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εφ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α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ρμογής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.</a:t>
            </a:r>
          </a:p>
          <a:p>
            <a:r>
              <a:rPr lang="en-US" altLang="zh-CN" sz="1800">
                <a:latin typeface="Arial"/>
                <a:ea typeface="Segoe UI Black"/>
                <a:cs typeface="Arial"/>
              </a:rPr>
              <a:t> 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Το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App Designer π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ροσφέρει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εύχρηστο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π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ερι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β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άλλον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με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δυν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α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τότητες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drag &amp; drop. Επ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ιτρέ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π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ετ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αι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με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α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υτόν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τον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τρό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πο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ο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εύκολος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σχεδι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α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σμός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α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κόμ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α και από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χρήστες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χωρίς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 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εμ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π</a:t>
            </a:r>
            <a:r>
              <a:rPr lang="en-US" altLang="zh-CN" sz="1800" err="1">
                <a:latin typeface="Arial"/>
                <a:ea typeface="Segoe UI Black"/>
                <a:cs typeface="Arial"/>
              </a:rPr>
              <a:t>ειρί</a:t>
            </a:r>
            <a:r>
              <a:rPr lang="en-US" altLang="zh-CN" sz="1800">
                <a:latin typeface="Arial"/>
                <a:ea typeface="Segoe UI Black"/>
                <a:cs typeface="Arial"/>
              </a:rPr>
              <a:t>α.</a:t>
            </a:r>
          </a:p>
          <a:p>
            <a:pPr marL="285750" indent="-285750">
              <a:buChar char="•"/>
            </a:pPr>
            <a:endParaRPr lang="en-US" altLang="zh-CN" sz="1800">
              <a:ea typeface="Segoe UI Black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1800">
              <a:ea typeface="Segoe UI Black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472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8D9FE4F-3F6A-C386-53EA-849AA709F7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77244" y="2230026"/>
            <a:ext cx="10488951" cy="34195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1800" dirty="0">
                <a:cs typeface="Arial"/>
              </a:rPr>
              <a:t> Κα</a:t>
            </a:r>
            <a:r>
              <a:rPr lang="en-US" sz="1800" dirty="0" err="1">
                <a:cs typeface="Arial"/>
              </a:rPr>
              <a:t>τά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τη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δημιουργί</a:t>
            </a:r>
            <a:r>
              <a:rPr lang="en-US" sz="1800" dirty="0">
                <a:cs typeface="Arial"/>
              </a:rPr>
              <a:t>α </a:t>
            </a:r>
            <a:r>
              <a:rPr lang="en-US" sz="1800" dirty="0" err="1">
                <a:cs typeface="Arial"/>
              </a:rPr>
              <a:t>του</a:t>
            </a:r>
            <a:r>
              <a:rPr lang="en-US" sz="1800" dirty="0">
                <a:cs typeface="Arial"/>
              </a:rPr>
              <a:t> GUI, </a:t>
            </a:r>
            <a:r>
              <a:rPr lang="en-US" sz="1800" dirty="0" err="1">
                <a:cs typeface="Arial"/>
              </a:rPr>
              <a:t>κύριος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στόχος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ήτ</a:t>
            </a:r>
            <a:r>
              <a:rPr lang="en-US" sz="1800" dirty="0">
                <a:cs typeface="Arial"/>
              </a:rPr>
              <a:t>αν η </a:t>
            </a:r>
            <a:r>
              <a:rPr lang="en-US" sz="1800" dirty="0" err="1">
                <a:cs typeface="Arial"/>
              </a:rPr>
              <a:t>δημιουργί</a:t>
            </a:r>
            <a:r>
              <a:rPr lang="en-US" sz="1800" dirty="0">
                <a:cs typeface="Arial"/>
              </a:rPr>
              <a:t>α </a:t>
            </a:r>
            <a:r>
              <a:rPr lang="en-US" sz="1800" dirty="0" err="1">
                <a:cs typeface="Arial"/>
              </a:rPr>
              <a:t>ενός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φιλικού</a:t>
            </a:r>
            <a:r>
              <a:rPr lang="en-US" sz="1800" dirty="0">
                <a:cs typeface="Arial"/>
              </a:rPr>
              <a:t> και </a:t>
            </a:r>
            <a:r>
              <a:rPr lang="en-US" sz="1800" dirty="0" err="1">
                <a:cs typeface="Arial"/>
              </a:rPr>
              <a:t>εύχρηστου</a:t>
            </a:r>
            <a:r>
              <a:rPr lang="en-US" sz="1800" dirty="0">
                <a:cs typeface="Arial"/>
              </a:rPr>
              <a:t> π</a:t>
            </a:r>
            <a:r>
              <a:rPr lang="en-US" sz="1800" dirty="0" err="1">
                <a:cs typeface="Arial"/>
              </a:rPr>
              <a:t>ερι</a:t>
            </a:r>
            <a:r>
              <a:rPr lang="en-US" sz="1800" dirty="0">
                <a:cs typeface="Arial"/>
              </a:rPr>
              <a:t>β</a:t>
            </a:r>
            <a:r>
              <a:rPr lang="en-US" sz="1800" dirty="0" err="1">
                <a:cs typeface="Arial"/>
              </a:rPr>
              <a:t>άλλοντος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γι</a:t>
            </a:r>
            <a:r>
              <a:rPr lang="en-US" sz="1800" dirty="0">
                <a:cs typeface="Arial"/>
              </a:rPr>
              <a:t>α </a:t>
            </a:r>
            <a:r>
              <a:rPr lang="en-US" sz="1800" dirty="0" err="1">
                <a:cs typeface="Arial"/>
              </a:rPr>
              <a:t>την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εμ</a:t>
            </a:r>
            <a:r>
              <a:rPr lang="en-US" sz="1800" dirty="0">
                <a:cs typeface="Arial"/>
              </a:rPr>
              <a:t>π</a:t>
            </a:r>
            <a:r>
              <a:rPr lang="en-US" sz="1800" dirty="0" err="1">
                <a:cs typeface="Arial"/>
              </a:rPr>
              <a:t>ειρί</a:t>
            </a:r>
            <a:r>
              <a:rPr lang="en-US" sz="1800" dirty="0">
                <a:cs typeface="Arial"/>
              </a:rPr>
              <a:t>α </a:t>
            </a:r>
            <a:r>
              <a:rPr lang="en-US" sz="1800" dirty="0" err="1">
                <a:cs typeface="Arial"/>
              </a:rPr>
              <a:t>του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χρήστη</a:t>
            </a:r>
            <a:r>
              <a:rPr lang="en-US" sz="1800" dirty="0">
                <a:cs typeface="Arial"/>
              </a:rPr>
              <a:t>. </a:t>
            </a:r>
            <a:r>
              <a:rPr lang="en-US" sz="1800" dirty="0" err="1">
                <a:cs typeface="Arial"/>
              </a:rPr>
              <a:t>Αυτά</a:t>
            </a:r>
            <a:r>
              <a:rPr lang="en-US" sz="1800" dirty="0">
                <a:cs typeface="Arial"/>
              </a:rPr>
              <a:t> επ</a:t>
            </a:r>
            <a:r>
              <a:rPr lang="en-US" sz="1800" dirty="0" err="1">
                <a:cs typeface="Arial"/>
              </a:rPr>
              <a:t>ετεύχθησ</a:t>
            </a:r>
            <a:r>
              <a:rPr lang="en-US" sz="1800" dirty="0">
                <a:cs typeface="Arial"/>
              </a:rPr>
              <a:t>αν </a:t>
            </a:r>
            <a:r>
              <a:rPr lang="en-US" sz="1800" dirty="0" err="1">
                <a:cs typeface="Arial"/>
              </a:rPr>
              <a:t>με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τη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χρήση</a:t>
            </a:r>
            <a:r>
              <a:rPr lang="en-US" sz="1800" dirty="0">
                <a:cs typeface="Arial"/>
              </a:rPr>
              <a:t>: </a:t>
            </a:r>
          </a:p>
          <a:p>
            <a:pPr marL="285750" indent="-285750">
              <a:buChar char="•"/>
            </a:pPr>
            <a:r>
              <a:rPr lang="en-US" sz="1800" b="1" dirty="0">
                <a:cs typeface="Arial"/>
              </a:rPr>
              <a:t>Tab group:</a:t>
            </a:r>
            <a:r>
              <a:rPr lang="en-US" sz="1800" dirty="0">
                <a:cs typeface="Arial"/>
              </a:rPr>
              <a:t> η </a:t>
            </a:r>
            <a:r>
              <a:rPr lang="en-US" sz="1800" dirty="0" err="1">
                <a:cs typeface="Arial"/>
              </a:rPr>
              <a:t>εφ</a:t>
            </a:r>
            <a:r>
              <a:rPr lang="en-US" sz="1800" dirty="0">
                <a:cs typeface="Arial"/>
              </a:rPr>
              <a:t>α</a:t>
            </a:r>
            <a:r>
              <a:rPr lang="en-US" sz="1800" dirty="0" err="1">
                <a:cs typeface="Arial"/>
              </a:rPr>
              <a:t>ρμογή</a:t>
            </a:r>
            <a:r>
              <a:rPr lang="en-US" sz="1800" dirty="0">
                <a:cs typeface="Arial"/>
              </a:rPr>
              <a:t> υπ</a:t>
            </a:r>
            <a:r>
              <a:rPr lang="en-US" sz="1800" dirty="0" err="1">
                <a:cs typeface="Arial"/>
              </a:rPr>
              <a:t>οστηρίζει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δι</a:t>
            </a:r>
            <a:r>
              <a:rPr lang="en-US" sz="1800" dirty="0">
                <a:cs typeface="Arial"/>
              </a:rPr>
              <a:t>α</a:t>
            </a:r>
            <a:r>
              <a:rPr lang="en-US" sz="1800" dirty="0" err="1">
                <a:cs typeface="Arial"/>
              </a:rPr>
              <a:t>φορετικές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οθόνες</a:t>
            </a:r>
            <a:r>
              <a:rPr lang="en-US" sz="1800" dirty="0">
                <a:cs typeface="Arial"/>
              </a:rPr>
              <a:t>, β</a:t>
            </a:r>
            <a:r>
              <a:rPr lang="en-US" sz="1800" dirty="0" err="1">
                <a:cs typeface="Arial"/>
              </a:rPr>
              <a:t>άση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των</a:t>
            </a:r>
            <a:r>
              <a:rPr lang="en-US" sz="1800" dirty="0">
                <a:cs typeface="Arial"/>
              </a:rPr>
              <a:t> π</a:t>
            </a:r>
            <a:r>
              <a:rPr lang="en-US" sz="1800" dirty="0" err="1">
                <a:cs typeface="Arial"/>
              </a:rPr>
              <a:t>ράξεων</a:t>
            </a:r>
            <a:r>
              <a:rPr lang="en-US" sz="1800" dirty="0">
                <a:cs typeface="Arial"/>
              </a:rPr>
              <a:t> π</a:t>
            </a:r>
            <a:r>
              <a:rPr lang="en-US" sz="1800" dirty="0" err="1">
                <a:cs typeface="Arial"/>
              </a:rPr>
              <a:t>ου</a:t>
            </a:r>
            <a:r>
              <a:rPr lang="en-US" sz="1800" dirty="0">
                <a:cs typeface="Arial"/>
              </a:rPr>
              <a:t> θα </a:t>
            </a:r>
            <a:r>
              <a:rPr lang="en-US" sz="1800" dirty="0" err="1">
                <a:cs typeface="Arial"/>
              </a:rPr>
              <a:t>χρησιμο</a:t>
            </a:r>
            <a:r>
              <a:rPr lang="en-US" sz="1800" dirty="0">
                <a:cs typeface="Arial"/>
              </a:rPr>
              <a:t>π</a:t>
            </a:r>
            <a:r>
              <a:rPr lang="en-US" sz="1800" dirty="0" err="1">
                <a:cs typeface="Arial"/>
              </a:rPr>
              <a:t>οιηθούν</a:t>
            </a:r>
            <a:r>
              <a:rPr lang="en-US" sz="1800" dirty="0">
                <a:cs typeface="Arial"/>
              </a:rPr>
              <a:t>. Βα</a:t>
            </a:r>
            <a:r>
              <a:rPr lang="en-US" sz="1800" dirty="0" err="1">
                <a:cs typeface="Arial"/>
              </a:rPr>
              <a:t>σικές</a:t>
            </a:r>
            <a:r>
              <a:rPr lang="en-US" sz="1800" dirty="0">
                <a:cs typeface="Arial"/>
              </a:rPr>
              <a:t>, π</a:t>
            </a:r>
            <a:r>
              <a:rPr lang="en-US" sz="1800" dirty="0" err="1">
                <a:cs typeface="Arial"/>
              </a:rPr>
              <a:t>ροχωρημένες</a:t>
            </a:r>
            <a:r>
              <a:rPr lang="en-US" sz="1800" dirty="0">
                <a:cs typeface="Arial"/>
              </a:rPr>
              <a:t>, </a:t>
            </a:r>
            <a:r>
              <a:rPr lang="en-US" sz="1800" dirty="0" err="1">
                <a:cs typeface="Arial"/>
              </a:rPr>
              <a:t>τριγωνομετρικές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είν</a:t>
            </a:r>
            <a:r>
              <a:rPr lang="en-US" sz="1800" dirty="0">
                <a:cs typeface="Arial"/>
              </a:rPr>
              <a:t>αι </a:t>
            </a:r>
            <a:r>
              <a:rPr lang="en-US" sz="1800" dirty="0" err="1">
                <a:cs typeface="Arial"/>
              </a:rPr>
              <a:t>μερικές</a:t>
            </a:r>
            <a:r>
              <a:rPr lang="en-US" sz="1800" dirty="0">
                <a:cs typeface="Arial"/>
              </a:rPr>
              <a:t> από α</a:t>
            </a:r>
            <a:r>
              <a:rPr lang="en-US" sz="1800" dirty="0" err="1">
                <a:cs typeface="Arial"/>
              </a:rPr>
              <a:t>υτές</a:t>
            </a:r>
            <a:r>
              <a:rPr lang="en-US" sz="1800" dirty="0">
                <a:cs typeface="Arial"/>
              </a:rPr>
              <a:t>.</a:t>
            </a:r>
          </a:p>
          <a:p>
            <a:pPr marL="285750" indent="-285750">
              <a:buChar char="•"/>
            </a:pPr>
            <a:r>
              <a:rPr lang="en-US" sz="1800" b="1" dirty="0">
                <a:cs typeface="Arial"/>
              </a:rPr>
              <a:t>Label: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με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στόχο</a:t>
            </a:r>
            <a:r>
              <a:rPr lang="en-US" sz="1800" dirty="0">
                <a:cs typeface="Arial"/>
              </a:rPr>
              <a:t> να </a:t>
            </a:r>
            <a:r>
              <a:rPr lang="en-US" sz="1800" dirty="0" err="1">
                <a:cs typeface="Arial"/>
              </a:rPr>
              <a:t>γίνετ</a:t>
            </a:r>
            <a:r>
              <a:rPr lang="en-US" sz="1800" dirty="0">
                <a:cs typeface="Arial"/>
              </a:rPr>
              <a:t>αι </a:t>
            </a:r>
            <a:r>
              <a:rPr lang="en-US" sz="1800" dirty="0" err="1">
                <a:cs typeface="Arial"/>
              </a:rPr>
              <a:t>δυν</a:t>
            </a:r>
            <a:r>
              <a:rPr lang="en-US" sz="1800" dirty="0">
                <a:cs typeface="Arial"/>
              </a:rPr>
              <a:t>α</a:t>
            </a:r>
            <a:r>
              <a:rPr lang="en-US" sz="1800" dirty="0" err="1">
                <a:cs typeface="Arial"/>
              </a:rPr>
              <a:t>μική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ενημέρωση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της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οθόνης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εξόδου</a:t>
            </a:r>
            <a:r>
              <a:rPr lang="en-US" sz="1800" dirty="0">
                <a:cs typeface="Arial"/>
              </a:rPr>
              <a:t>. </a:t>
            </a:r>
          </a:p>
          <a:p>
            <a:pPr marL="285750" indent="-285750">
              <a:buChar char="•"/>
            </a:pPr>
            <a:r>
              <a:rPr lang="en-US" sz="1800" b="1" dirty="0" err="1">
                <a:cs typeface="Arial"/>
              </a:rPr>
              <a:t>GridLayout</a:t>
            </a:r>
            <a:r>
              <a:rPr lang="en-US" sz="1800" b="1" dirty="0">
                <a:cs typeface="Arial"/>
              </a:rPr>
              <a:t>: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γι</a:t>
            </a:r>
            <a:r>
              <a:rPr lang="en-US" sz="1800" dirty="0">
                <a:cs typeface="Arial"/>
              </a:rPr>
              <a:t>α </a:t>
            </a:r>
            <a:r>
              <a:rPr lang="en-US" sz="1800" dirty="0" err="1">
                <a:cs typeface="Arial"/>
              </a:rPr>
              <a:t>οργάνωση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στοιχείων</a:t>
            </a:r>
            <a:r>
              <a:rPr lang="en-US" sz="1800" dirty="0">
                <a:cs typeface="Arial"/>
              </a:rPr>
              <a:t>.</a:t>
            </a:r>
          </a:p>
          <a:p>
            <a:pPr marL="285750" indent="-285750">
              <a:buChar char="•"/>
            </a:pPr>
            <a:r>
              <a:rPr lang="en-US" sz="1800" b="1" dirty="0">
                <a:cs typeface="Arial"/>
              </a:rPr>
              <a:t>Buttons</a:t>
            </a:r>
            <a:r>
              <a:rPr lang="en-US" sz="1800" dirty="0">
                <a:cs typeface="Arial"/>
              </a:rPr>
              <a:t> </a:t>
            </a:r>
            <a:r>
              <a:rPr lang="en-US" sz="1800" dirty="0" err="1">
                <a:cs typeface="Arial"/>
              </a:rPr>
              <a:t>ευδιάκριτ</a:t>
            </a:r>
            <a:r>
              <a:rPr lang="en-US" sz="1800" dirty="0">
                <a:cs typeface="Arial"/>
              </a:rPr>
              <a:t>α.</a:t>
            </a:r>
          </a:p>
          <a:p>
            <a:endParaRPr lang="en-US" sz="1800" dirty="0">
              <a:cs typeface="Arial"/>
            </a:endParaRP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29A500EA-BFD0-7F90-9EB7-FAA7C024B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Segoe UI Black"/>
              </a:rPr>
              <a:t>Ανάλυση</a:t>
            </a:r>
            <a:r>
              <a:rPr lang="en-US">
                <a:ea typeface="Segoe UI Black"/>
              </a:rPr>
              <a:t> Και </a:t>
            </a:r>
            <a:r>
              <a:rPr lang="en-US" err="1">
                <a:ea typeface="Segoe UI Black"/>
              </a:rPr>
              <a:t>Δομή</a:t>
            </a:r>
            <a:r>
              <a:rPr lang="en-US">
                <a:ea typeface="Segoe UI Black"/>
              </a:rPr>
              <a:t> GUI</a:t>
            </a:r>
          </a:p>
        </p:txBody>
      </p:sp>
    </p:spTree>
    <p:extLst>
      <p:ext uri="{BB962C8B-B14F-4D97-AF65-F5344CB8AC3E}">
        <p14:creationId xmlns:p14="http://schemas.microsoft.com/office/powerpoint/2010/main" val="164140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5E49-1830-7F44-FE5E-D9B670A0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075" y="206063"/>
            <a:ext cx="5576350" cy="827458"/>
          </a:xfrm>
        </p:spPr>
        <p:txBody>
          <a:bodyPr/>
          <a:lstStyle/>
          <a:p>
            <a:r>
              <a:rPr lang="en-US" sz="4000"/>
              <a:t>Screenshots-Backend</a:t>
            </a:r>
            <a:endParaRPr lang="en-US" sz="4000">
              <a:ea typeface="Segoe UI Black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6C5D57-4E27-B85B-9F7A-1E02D990F3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550685" y="440920"/>
            <a:ext cx="506796" cy="36412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600">
                <a:latin typeface="Segoe UI Black"/>
                <a:ea typeface="Segoe UI Black"/>
              </a:rPr>
              <a:t>06</a:t>
            </a:r>
            <a:endParaRPr lang="zh-CN" altLang="en-US" sz="2600">
              <a:latin typeface="Segoe UI Black"/>
            </a:endParaRP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F9BB5D79-7929-E21A-DE12-44574F3FBD08}"/>
              </a:ext>
            </a:extLst>
          </p:cNvPr>
          <p:cNvSpPr txBox="1">
            <a:spLocks/>
          </p:cNvSpPr>
          <p:nvPr/>
        </p:nvSpPr>
        <p:spPr>
          <a:xfrm>
            <a:off x="7032604" y="1041306"/>
            <a:ext cx="3986551" cy="11640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cs typeface="Arial"/>
              </a:rPr>
              <a:t> Η </a:t>
            </a:r>
            <a:r>
              <a:rPr lang="en-US" b="1" err="1">
                <a:cs typeface="Arial"/>
              </a:rPr>
              <a:t>display_result</a:t>
            </a:r>
            <a:r>
              <a:rPr lang="en-US" b="1">
                <a:cs typeface="Arial"/>
              </a:rPr>
              <a:t>(result)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μορφο</a:t>
            </a:r>
            <a:r>
              <a:rPr lang="en-US">
                <a:cs typeface="Arial"/>
              </a:rPr>
              <a:t>π</a:t>
            </a:r>
            <a:r>
              <a:rPr lang="en-US" err="1">
                <a:cs typeface="Arial"/>
              </a:rPr>
              <a:t>οιεί</a:t>
            </a:r>
            <a:r>
              <a:rPr lang="en-US">
                <a:cs typeface="Arial"/>
              </a:rPr>
              <a:t> και </a:t>
            </a:r>
            <a:r>
              <a:rPr lang="en-US" err="1">
                <a:cs typeface="Arial"/>
              </a:rPr>
              <a:t>εμφ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νίζει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το</a:t>
            </a:r>
            <a:r>
              <a:rPr lang="en-US">
                <a:cs typeface="Arial"/>
              </a:rPr>
              <a:t> απ</a:t>
            </a:r>
            <a:r>
              <a:rPr lang="en-US" err="1">
                <a:cs typeface="Arial"/>
              </a:rPr>
              <a:t>οτελέσμ</a:t>
            </a:r>
            <a:r>
              <a:rPr lang="en-US">
                <a:cs typeface="Arial"/>
              </a:rPr>
              <a:t>α, </a:t>
            </a:r>
            <a:r>
              <a:rPr lang="en-US" err="1">
                <a:cs typeface="Arial"/>
              </a:rPr>
              <a:t>με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σκο</a:t>
            </a:r>
            <a:r>
              <a:rPr lang="en-US">
                <a:cs typeface="Arial"/>
              </a:rPr>
              <a:t>πό να </a:t>
            </a:r>
            <a:r>
              <a:rPr lang="en-US" err="1">
                <a:cs typeface="Arial"/>
              </a:rPr>
              <a:t>είν</a:t>
            </a:r>
            <a:r>
              <a:rPr lang="en-US">
                <a:cs typeface="Arial"/>
              </a:rPr>
              <a:t>αι </a:t>
            </a:r>
            <a:r>
              <a:rPr lang="en-US" err="1">
                <a:cs typeface="Arial"/>
              </a:rPr>
              <a:t>φιλικό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ρος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τον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χρήστη</a:t>
            </a:r>
            <a:r>
              <a:rPr lang="en-US">
                <a:cs typeface="Arial"/>
              </a:rPr>
              <a:t>.</a:t>
            </a:r>
          </a:p>
        </p:txBody>
      </p:sp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DA6DBA1-6D50-A189-63F4-B192E2DFE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351" y="2884911"/>
            <a:ext cx="4152490" cy="3093085"/>
          </a:xfrm>
          <a:prstGeom prst="rect">
            <a:avLst/>
          </a:prstGeom>
        </p:spPr>
      </p:pic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0120554E-0513-5A29-C1B5-79E07DBFA499}"/>
              </a:ext>
            </a:extLst>
          </p:cNvPr>
          <p:cNvSpPr txBox="1">
            <a:spLocks/>
          </p:cNvSpPr>
          <p:nvPr/>
        </p:nvSpPr>
        <p:spPr>
          <a:xfrm>
            <a:off x="1546203" y="2890426"/>
            <a:ext cx="4311671" cy="132663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cs typeface="Arial"/>
              </a:rPr>
              <a:t> Η </a:t>
            </a:r>
            <a:r>
              <a:rPr lang="en-US" b="1">
                <a:cs typeface="Arial"/>
              </a:rPr>
              <a:t> x = </a:t>
            </a:r>
            <a:r>
              <a:rPr lang="en-US" b="1" err="1">
                <a:cs typeface="Arial"/>
              </a:rPr>
              <a:t>angle_in_degrees</a:t>
            </a:r>
            <a:r>
              <a:rPr lang="en-US" b="1">
                <a:cs typeface="Arial"/>
              </a:rPr>
              <a:t>() </a:t>
            </a:r>
            <a:r>
              <a:rPr lang="en-US" err="1">
                <a:cs typeface="Arial"/>
              </a:rPr>
              <a:t>ζητάει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γωνί</a:t>
            </a:r>
            <a:r>
              <a:rPr lang="en-US">
                <a:cs typeface="Arial"/>
              </a:rPr>
              <a:t>α </a:t>
            </a:r>
            <a:r>
              <a:rPr lang="en-US" err="1">
                <a:cs typeface="Arial"/>
              </a:rPr>
              <a:t>σε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μοίρες</a:t>
            </a:r>
            <a:r>
              <a:rPr lang="en-US">
                <a:cs typeface="Arial"/>
              </a:rPr>
              <a:t>, </a:t>
            </a:r>
            <a:r>
              <a:rPr lang="en-US" err="1">
                <a:cs typeface="Arial"/>
              </a:rPr>
              <a:t>κάνει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τους</a:t>
            </a:r>
            <a:r>
              <a:rPr lang="en-US">
                <a:cs typeface="Arial"/>
              </a:rPr>
              <a:t> απαρα</a:t>
            </a:r>
            <a:r>
              <a:rPr lang="en-US" err="1">
                <a:cs typeface="Arial"/>
              </a:rPr>
              <a:t>ίτητους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ελέγχους</a:t>
            </a:r>
            <a:r>
              <a:rPr lang="en-US">
                <a:cs typeface="Arial"/>
              </a:rPr>
              <a:t>, </a:t>
            </a:r>
            <a:r>
              <a:rPr lang="en-US" err="1">
                <a:cs typeface="Arial"/>
              </a:rPr>
              <a:t>τη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μετ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τρέ</a:t>
            </a:r>
            <a:r>
              <a:rPr lang="en-US">
                <a:cs typeface="Arial"/>
              </a:rPr>
              <a:t>π</a:t>
            </a:r>
            <a:r>
              <a:rPr lang="en-US" err="1">
                <a:cs typeface="Arial"/>
              </a:rPr>
              <a:t>ει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σε</a:t>
            </a:r>
            <a:r>
              <a:rPr lang="en-US">
                <a:cs typeface="Arial"/>
              </a:rPr>
              <a:t> α</a:t>
            </a:r>
            <a:r>
              <a:rPr lang="en-US" err="1">
                <a:cs typeface="Arial"/>
              </a:rPr>
              <a:t>ριθμό</a:t>
            </a:r>
            <a:r>
              <a:rPr lang="en-US">
                <a:cs typeface="Arial"/>
              </a:rPr>
              <a:t> και </a:t>
            </a:r>
            <a:r>
              <a:rPr lang="en-US" err="1">
                <a:cs typeface="Arial"/>
              </a:rPr>
              <a:t>την</a:t>
            </a:r>
            <a:r>
              <a:rPr lang="en-US">
                <a:cs typeface="Arial"/>
              </a:rPr>
              <a:t> επ</a:t>
            </a:r>
            <a:r>
              <a:rPr lang="en-US" err="1">
                <a:cs typeface="Arial"/>
              </a:rPr>
              <a:t>ιστρέφει</a:t>
            </a:r>
            <a:r>
              <a:rPr lang="en-US">
                <a:cs typeface="Arial"/>
              </a:rPr>
              <a:t>.</a:t>
            </a:r>
          </a:p>
        </p:txBody>
      </p:sp>
      <p:pic>
        <p:nvPicPr>
          <p:cNvPr id="3" name="Picture 2" descr="A computer screen shot of a math problem&#10;&#10;AI-generated content may be incorrect.">
            <a:extLst>
              <a:ext uri="{FF2B5EF4-FFF2-40B4-BE49-F238E27FC236}">
                <a16:creationId xmlns:a16="http://schemas.microsoft.com/office/drawing/2014/main" id="{7F5CDF1C-FB45-BDC6-E8D2-AC671C90F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130" y="4732655"/>
            <a:ext cx="2857500" cy="1903730"/>
          </a:xfrm>
          <a:prstGeom prst="rect">
            <a:avLst/>
          </a:prstGeom>
        </p:spPr>
      </p:pic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C73D0F92-32A7-4512-7E3D-1E79C93157D9}"/>
              </a:ext>
            </a:extLst>
          </p:cNvPr>
          <p:cNvSpPr txBox="1">
            <a:spLocks/>
          </p:cNvSpPr>
          <p:nvPr/>
        </p:nvSpPr>
        <p:spPr>
          <a:xfrm>
            <a:off x="4258923" y="5389786"/>
            <a:ext cx="1832631" cy="4223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cs typeface="Arial"/>
              </a:rPr>
              <a:t> Πα</a:t>
            </a:r>
            <a:r>
              <a:rPr lang="en-US" err="1">
                <a:cs typeface="Arial"/>
              </a:rPr>
              <a:t>ράδειγμ</a:t>
            </a:r>
            <a:r>
              <a:rPr lang="en-US">
                <a:cs typeface="Arial"/>
              </a:rPr>
              <a:t>α</a:t>
            </a:r>
          </a:p>
        </p:txBody>
      </p:sp>
      <p:pic>
        <p:nvPicPr>
          <p:cNvPr id="5" name="Picture 4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25757677-80D2-A92D-DA7C-FE9D9B5C3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533" y="1037656"/>
            <a:ext cx="5038725" cy="172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663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6FF23993-A112-3F02-05AD-9C97E400B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3441" y="1905552"/>
            <a:ext cx="4664433" cy="3709269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BE043E4A-57D6-8E32-0FB7-CF2F0642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873" y="775023"/>
            <a:ext cx="4428271" cy="654738"/>
          </a:xfrm>
        </p:spPr>
        <p:txBody>
          <a:bodyPr/>
          <a:lstStyle/>
          <a:p>
            <a:r>
              <a:rPr lang="en-US" sz="4000">
                <a:ea typeface="Segoe UI Black"/>
              </a:rPr>
              <a:t>Screenshots-GUI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A81B3B-CE67-82F1-4BE6-4AAD077DE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482" y="1904048"/>
            <a:ext cx="4664075" cy="37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5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8279A85F-EA57-BCCC-42C2-762FF3552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075" y="206063"/>
            <a:ext cx="5576350" cy="827458"/>
          </a:xfrm>
        </p:spPr>
        <p:txBody>
          <a:bodyPr/>
          <a:lstStyle/>
          <a:p>
            <a:r>
              <a:rPr lang="en-US" sz="4000"/>
              <a:t>Demos</a:t>
            </a:r>
            <a:endParaRPr lang="en-US" sz="4000">
              <a:ea typeface="Segoe UI Black"/>
            </a:endParaRP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17557C33-D032-F626-9384-DEC225E69B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550685" y="440920"/>
            <a:ext cx="506796" cy="36412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600">
                <a:latin typeface="Segoe UI Black"/>
                <a:ea typeface="Segoe UI Black"/>
              </a:rPr>
              <a:t>07</a:t>
            </a:r>
            <a:endParaRPr lang="zh-CN" altLang="en-US" sz="2600">
              <a:latin typeface="Segoe UI Black"/>
            </a:endParaRPr>
          </a:p>
        </p:txBody>
      </p:sp>
      <p:pic>
        <p:nvPicPr>
          <p:cNvPr id="4" name="20250601_134038">
            <a:hlinkClick r:id="" action="ppaction://media"/>
            <a:extLst>
              <a:ext uri="{FF2B5EF4-FFF2-40B4-BE49-F238E27FC236}">
                <a16:creationId xmlns:a16="http://schemas.microsoft.com/office/drawing/2014/main" id="{9FDB52CD-B99D-5FA7-AF60-8C3DD41789D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00157" y="895625"/>
            <a:ext cx="10626034" cy="551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00AD8-A0FD-AD2B-A60A-A58DDA966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51ED24CB-E034-7DD7-D92A-4DD4CEEB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075" y="206063"/>
            <a:ext cx="5576350" cy="827458"/>
          </a:xfrm>
        </p:spPr>
        <p:txBody>
          <a:bodyPr/>
          <a:lstStyle/>
          <a:p>
            <a:r>
              <a:rPr lang="en-US" sz="4000"/>
              <a:t>Demos</a:t>
            </a:r>
            <a:endParaRPr lang="en-US" sz="4000">
              <a:ea typeface="Segoe UI Black"/>
            </a:endParaRP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BA134789-6308-4A10-E0E7-465999AEC2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550685" y="440920"/>
            <a:ext cx="506796" cy="36412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600">
                <a:latin typeface="Segoe UI Black"/>
                <a:ea typeface="Segoe UI Black"/>
              </a:rPr>
              <a:t>07</a:t>
            </a:r>
            <a:endParaRPr lang="zh-CN" altLang="en-US" sz="2600">
              <a:latin typeface="Segoe UI Black"/>
            </a:endParaRPr>
          </a:p>
        </p:txBody>
      </p:sp>
      <p:pic>
        <p:nvPicPr>
          <p:cNvPr id="2" name="20250601_140734">
            <a:hlinkClick r:id="" action="ppaction://media"/>
            <a:extLst>
              <a:ext uri="{FF2B5EF4-FFF2-40B4-BE49-F238E27FC236}">
                <a16:creationId xmlns:a16="http://schemas.microsoft.com/office/drawing/2014/main" id="{54B121E3-B979-5E0F-8E77-3F483DEB3A5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48477" y="1038367"/>
            <a:ext cx="7831041" cy="513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6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7C579-DC1C-FA68-EFBC-32BB8A690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5BA9EA11-DB9D-0786-65D1-85946D5F5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9650" y="238443"/>
            <a:ext cx="3446780" cy="792480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4000" err="1">
                <a:ea typeface="Segoe UI Black"/>
              </a:rPr>
              <a:t>Βελτιώσεις</a:t>
            </a:r>
            <a:endParaRPr lang="en-US" sz="4000">
              <a:ea typeface="Segoe UI Black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452A421-64C8-7BAD-52E8-5787A76342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028205" y="552680"/>
            <a:ext cx="506796" cy="36412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600">
                <a:latin typeface="Segoe UI Black"/>
                <a:ea typeface="Segoe UI Black"/>
              </a:rPr>
              <a:t>08</a:t>
            </a:r>
            <a:endParaRPr lang="zh-CN" altLang="en-US" sz="2600">
              <a:latin typeface="Segoe UI Black"/>
            </a:endParaRPr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8E97BF73-DC39-B516-2973-B7C956F90321}"/>
              </a:ext>
            </a:extLst>
          </p:cNvPr>
          <p:cNvSpPr txBox="1">
            <a:spLocks/>
          </p:cNvSpPr>
          <p:nvPr/>
        </p:nvSpPr>
        <p:spPr>
          <a:xfrm>
            <a:off x="1962763" y="1274986"/>
            <a:ext cx="8700791" cy="510615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cs typeface="Arial"/>
              </a:rPr>
              <a:t> Κα</a:t>
            </a:r>
            <a:r>
              <a:rPr lang="en-US" err="1">
                <a:cs typeface="Arial"/>
              </a:rPr>
              <a:t>μί</a:t>
            </a:r>
            <a:r>
              <a:rPr lang="en-US">
                <a:cs typeface="Arial"/>
              </a:rPr>
              <a:t>α </a:t>
            </a:r>
            <a:r>
              <a:rPr lang="en-US" err="1">
                <a:cs typeface="Arial"/>
              </a:rPr>
              <a:t>εφ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ρμογή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δεν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είν</a:t>
            </a:r>
            <a:r>
              <a:rPr lang="en-US">
                <a:cs typeface="Arial"/>
              </a:rPr>
              <a:t>αι </a:t>
            </a:r>
            <a:r>
              <a:rPr lang="en-US" err="1">
                <a:cs typeface="Arial"/>
              </a:rPr>
              <a:t>τέλει</a:t>
            </a:r>
            <a:r>
              <a:rPr lang="en-US">
                <a:cs typeface="Arial"/>
              </a:rPr>
              <a:t>α, όπ</a:t>
            </a:r>
            <a:r>
              <a:rPr lang="en-US" err="1">
                <a:cs typeface="Arial"/>
              </a:rPr>
              <a:t>ως</a:t>
            </a:r>
            <a:r>
              <a:rPr lang="en-US">
                <a:cs typeface="Arial"/>
              </a:rPr>
              <a:t> επ</a:t>
            </a:r>
            <a:r>
              <a:rPr lang="en-US" err="1">
                <a:cs typeface="Arial"/>
              </a:rPr>
              <a:t>ίσης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γι</a:t>
            </a:r>
            <a:r>
              <a:rPr lang="en-US">
                <a:cs typeface="Arial"/>
              </a:rPr>
              <a:t>α </a:t>
            </a:r>
            <a:r>
              <a:rPr lang="en-US" err="1">
                <a:cs typeface="Arial"/>
              </a:rPr>
              <a:t>έν</a:t>
            </a:r>
            <a:r>
              <a:rPr lang="en-US">
                <a:cs typeface="Arial"/>
              </a:rPr>
              <a:t>α β</a:t>
            </a:r>
            <a:r>
              <a:rPr lang="en-US" err="1">
                <a:cs typeface="Arial"/>
              </a:rPr>
              <a:t>έλτιστο</a:t>
            </a:r>
            <a:r>
              <a:rPr lang="en-US">
                <a:cs typeface="Arial"/>
              </a:rPr>
              <a:t> απ</a:t>
            </a:r>
            <a:r>
              <a:rPr lang="en-US" err="1">
                <a:cs typeface="Arial"/>
              </a:rPr>
              <a:t>οτέλεσμ</a:t>
            </a:r>
            <a:r>
              <a:rPr lang="en-US">
                <a:cs typeface="Arial"/>
              </a:rPr>
              <a:t>α απα</a:t>
            </a:r>
            <a:r>
              <a:rPr lang="en-US" err="1">
                <a:cs typeface="Arial"/>
              </a:rPr>
              <a:t>ιτείτ</a:t>
            </a:r>
            <a:r>
              <a:rPr lang="en-US">
                <a:cs typeface="Arial"/>
              </a:rPr>
              <a:t>αι </a:t>
            </a:r>
            <a:r>
              <a:rPr lang="en-US" err="1">
                <a:cs typeface="Arial"/>
              </a:rPr>
              <a:t>χρόνος</a:t>
            </a:r>
            <a:r>
              <a:rPr lang="en-US">
                <a:cs typeface="Arial"/>
              </a:rPr>
              <a:t>, α</a:t>
            </a:r>
            <a:r>
              <a:rPr lang="en-US" err="1">
                <a:cs typeface="Arial"/>
              </a:rPr>
              <a:t>λληλε</a:t>
            </a:r>
            <a:r>
              <a:rPr lang="en-US">
                <a:cs typeface="Arial"/>
              </a:rPr>
              <a:t>π</a:t>
            </a:r>
            <a:r>
              <a:rPr lang="en-US" err="1">
                <a:cs typeface="Arial"/>
              </a:rPr>
              <a:t>ίδρ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ση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με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τον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χρήστη</a:t>
            </a:r>
            <a:r>
              <a:rPr lang="en-US">
                <a:cs typeface="Arial"/>
              </a:rPr>
              <a:t> και </a:t>
            </a:r>
            <a:r>
              <a:rPr lang="en-US" err="1">
                <a:cs typeface="Arial"/>
              </a:rPr>
              <a:t>συνεχής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έλεγχοι</a:t>
            </a:r>
            <a:r>
              <a:rPr lang="en-US">
                <a:cs typeface="Arial"/>
              </a:rPr>
              <a:t>. Η </a:t>
            </a:r>
            <a:r>
              <a:rPr lang="en-US" err="1">
                <a:cs typeface="Arial"/>
              </a:rPr>
              <a:t>εφ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ρμογή</a:t>
            </a:r>
            <a:r>
              <a:rPr lang="en-US">
                <a:cs typeface="Arial"/>
              </a:rPr>
              <a:t> μπ</a:t>
            </a:r>
            <a:r>
              <a:rPr lang="en-US" err="1">
                <a:cs typeface="Arial"/>
              </a:rPr>
              <a:t>ορεί</a:t>
            </a:r>
            <a:r>
              <a:rPr lang="en-US">
                <a:cs typeface="Arial"/>
              </a:rPr>
              <a:t> να β</a:t>
            </a:r>
            <a:r>
              <a:rPr lang="en-US" err="1">
                <a:cs typeface="Arial"/>
              </a:rPr>
              <a:t>ελτιωθεί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σε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μεγ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λό</a:t>
            </a:r>
            <a:r>
              <a:rPr lang="en-US">
                <a:cs typeface="Arial"/>
              </a:rPr>
              <a:t> βα</a:t>
            </a:r>
            <a:r>
              <a:rPr lang="en-US" err="1">
                <a:cs typeface="Arial"/>
              </a:rPr>
              <a:t>θμό</a:t>
            </a:r>
            <a:r>
              <a:rPr lang="en-US">
                <a:cs typeface="Arial"/>
              </a:rPr>
              <a:t> και </a:t>
            </a:r>
            <a:r>
              <a:rPr lang="en-US" err="1">
                <a:cs typeface="Arial"/>
              </a:rPr>
              <a:t>όσο</a:t>
            </a:r>
            <a:r>
              <a:rPr lang="en-US">
                <a:cs typeface="Arial"/>
              </a:rPr>
              <a:t> ανα</a:t>
            </a:r>
            <a:r>
              <a:rPr lang="en-US" err="1">
                <a:cs typeface="Arial"/>
              </a:rPr>
              <a:t>φορά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τις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ράξεις</a:t>
            </a:r>
            <a:r>
              <a:rPr lang="en-US">
                <a:cs typeface="Arial"/>
              </a:rPr>
              <a:t>, κα</a:t>
            </a:r>
            <a:r>
              <a:rPr lang="en-US" err="1">
                <a:cs typeface="Arial"/>
              </a:rPr>
              <a:t>θώς</a:t>
            </a:r>
            <a:r>
              <a:rPr lang="en-US">
                <a:cs typeface="Arial"/>
              </a:rPr>
              <a:t> και </a:t>
            </a:r>
            <a:r>
              <a:rPr lang="en-US" err="1">
                <a:cs typeface="Arial"/>
              </a:rPr>
              <a:t>γι</a:t>
            </a:r>
            <a:r>
              <a:rPr lang="en-US">
                <a:cs typeface="Arial"/>
              </a:rPr>
              <a:t>α </a:t>
            </a:r>
            <a:r>
              <a:rPr lang="en-US" err="1">
                <a:cs typeface="Arial"/>
              </a:rPr>
              <a:t>το</a:t>
            </a:r>
            <a:r>
              <a:rPr lang="en-US">
                <a:cs typeface="Arial"/>
              </a:rPr>
              <a:t> GUI.</a:t>
            </a:r>
          </a:p>
          <a:p>
            <a:pPr marL="0" indent="0">
              <a:buNone/>
            </a:pPr>
            <a:r>
              <a:rPr lang="en-US">
                <a:cs typeface="Arial"/>
              </a:rPr>
              <a:t> </a:t>
            </a:r>
            <a:r>
              <a:rPr lang="en-US" err="1">
                <a:cs typeface="Arial"/>
              </a:rPr>
              <a:t>Μερικές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ροτεινόμενες</a:t>
            </a:r>
            <a:r>
              <a:rPr lang="en-US">
                <a:cs typeface="Arial"/>
              </a:rPr>
              <a:t> β</a:t>
            </a:r>
            <a:r>
              <a:rPr lang="en-US" err="1">
                <a:cs typeface="Arial"/>
              </a:rPr>
              <a:t>ελτιώσεις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είν</a:t>
            </a:r>
            <a:r>
              <a:rPr lang="en-US">
                <a:cs typeface="Arial"/>
              </a:rPr>
              <a:t>αι </a:t>
            </a:r>
            <a:r>
              <a:rPr lang="en-US" err="1">
                <a:cs typeface="Arial"/>
              </a:rPr>
              <a:t>οι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εξής</a:t>
            </a:r>
            <a:r>
              <a:rPr lang="en-US">
                <a:cs typeface="Arial"/>
              </a:rPr>
              <a:t>:</a:t>
            </a:r>
          </a:p>
          <a:p>
            <a:pPr marL="285750" indent="-285750"/>
            <a:r>
              <a:rPr lang="en-US">
                <a:cs typeface="Arial"/>
              </a:rPr>
              <a:t>Υπ</a:t>
            </a:r>
            <a:r>
              <a:rPr lang="en-US" err="1">
                <a:cs typeface="Arial"/>
              </a:rPr>
              <a:t>οστήριξη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ερισσότερων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ράξεων</a:t>
            </a:r>
            <a:r>
              <a:rPr lang="en-US">
                <a:cs typeface="Arial"/>
              </a:rPr>
              <a:t> κα</a:t>
            </a:r>
            <a:r>
              <a:rPr lang="en-US" err="1">
                <a:cs typeface="Arial"/>
              </a:rPr>
              <a:t>θώς</a:t>
            </a:r>
            <a:r>
              <a:rPr lang="en-US">
                <a:cs typeface="Arial"/>
              </a:rPr>
              <a:t> και </a:t>
            </a:r>
            <a:r>
              <a:rPr lang="en-US" err="1">
                <a:cs typeface="Arial"/>
              </a:rPr>
              <a:t>δι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γρ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μμάτων</a:t>
            </a:r>
            <a:r>
              <a:rPr lang="en-US">
                <a:cs typeface="Arial"/>
              </a:rPr>
              <a:t>.</a:t>
            </a:r>
          </a:p>
          <a:p>
            <a:pPr marL="285750" indent="-285750"/>
            <a:r>
              <a:rPr lang="en-US" err="1">
                <a:cs typeface="Arial"/>
              </a:rPr>
              <a:t>Είσοδος</a:t>
            </a:r>
            <a:r>
              <a:rPr lang="en-US">
                <a:cs typeface="Arial"/>
              </a:rPr>
              <a:t> και </a:t>
            </a:r>
            <a:r>
              <a:rPr lang="en-US" err="1">
                <a:cs typeface="Arial"/>
              </a:rPr>
              <a:t>έξοδος</a:t>
            </a:r>
            <a:r>
              <a:rPr lang="en-US">
                <a:cs typeface="Arial"/>
              </a:rPr>
              <a:t> CSV α</a:t>
            </a:r>
            <a:r>
              <a:rPr lang="en-US" err="1">
                <a:cs typeface="Arial"/>
              </a:rPr>
              <a:t>ρχείων</a:t>
            </a:r>
            <a:r>
              <a:rPr lang="en-US">
                <a:cs typeface="Arial"/>
              </a:rPr>
              <a:t>.</a:t>
            </a:r>
          </a:p>
          <a:p>
            <a:pPr marL="285750" indent="-285750"/>
            <a:r>
              <a:rPr lang="en-US">
                <a:cs typeface="Arial"/>
              </a:rPr>
              <a:t>Υπ</a:t>
            </a:r>
            <a:r>
              <a:rPr lang="en-US" err="1">
                <a:cs typeface="Arial"/>
              </a:rPr>
              <a:t>οστήριξη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ερισσότερων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γλωσσών</a:t>
            </a:r>
            <a:r>
              <a:rPr lang="en-US">
                <a:cs typeface="Arial"/>
              </a:rPr>
              <a:t>.</a:t>
            </a:r>
          </a:p>
          <a:p>
            <a:pPr marL="285750" indent="-285750"/>
            <a:r>
              <a:rPr lang="en-US" err="1">
                <a:cs typeface="Arial"/>
              </a:rPr>
              <a:t>Δυν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τότητ</a:t>
            </a:r>
            <a:r>
              <a:rPr lang="en-US">
                <a:cs typeface="Arial"/>
              </a:rPr>
              <a:t>α </a:t>
            </a:r>
            <a:r>
              <a:rPr lang="en-US" err="1">
                <a:cs typeface="Arial"/>
              </a:rPr>
              <a:t>εκτέλεσης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ράξεων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μετ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ξύ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τριγωνομετρικών</a:t>
            </a:r>
            <a:r>
              <a:rPr lang="en-US">
                <a:cs typeface="Arial"/>
              </a:rPr>
              <a:t> κ.α. </a:t>
            </a:r>
            <a:r>
              <a:rPr lang="en-US" err="1">
                <a:cs typeface="Arial"/>
              </a:rPr>
              <a:t>συν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ρτήσεων</a:t>
            </a:r>
            <a:r>
              <a:rPr lang="en-US">
                <a:cs typeface="Arial"/>
              </a:rPr>
              <a:t>.</a:t>
            </a:r>
          </a:p>
          <a:p>
            <a:pPr marL="285750" indent="-285750"/>
            <a:r>
              <a:rPr lang="en-US" err="1">
                <a:cs typeface="Arial"/>
              </a:rPr>
              <a:t>Βελτίωση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του</a:t>
            </a:r>
            <a:r>
              <a:rPr lang="en-US">
                <a:cs typeface="Arial"/>
              </a:rPr>
              <a:t> GUI.</a:t>
            </a:r>
          </a:p>
        </p:txBody>
      </p:sp>
    </p:spTree>
    <p:extLst>
      <p:ext uri="{BB962C8B-B14F-4D97-AF65-F5344CB8AC3E}">
        <p14:creationId xmlns:p14="http://schemas.microsoft.com/office/powerpoint/2010/main" val="323753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3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5278C-E72C-583E-7FAB-73E2DBAE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2C0C702E-91DE-C578-112C-54801BD7D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7028" y="726101"/>
            <a:ext cx="4056346" cy="655319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4000" err="1">
                <a:ea typeface="Segoe UI Black"/>
              </a:rPr>
              <a:t>Συμ</a:t>
            </a:r>
            <a:r>
              <a:rPr lang="en-US" sz="4000">
                <a:ea typeface="Segoe UI Black"/>
              </a:rPr>
              <a:t>π</a:t>
            </a:r>
            <a:r>
              <a:rPr lang="en-US" sz="4000" err="1">
                <a:ea typeface="Segoe UI Black"/>
              </a:rPr>
              <a:t>εράσμ</a:t>
            </a:r>
            <a:r>
              <a:rPr lang="en-US" sz="4000">
                <a:ea typeface="Segoe UI Black"/>
              </a:rPr>
              <a:t>ατα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A619C-E790-DED6-FCA9-DDB380E592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809005" y="877800"/>
            <a:ext cx="506796" cy="36412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600">
                <a:latin typeface="Segoe UI Black"/>
                <a:ea typeface="Segoe UI Black"/>
              </a:rPr>
              <a:t>09</a:t>
            </a:r>
            <a:endParaRPr lang="zh-CN" altLang="en-US" sz="2600">
              <a:latin typeface="Segoe UI Black"/>
            </a:endParaRPr>
          </a:p>
        </p:txBody>
      </p:sp>
      <p:sp>
        <p:nvSpPr>
          <p:cNvPr id="8" name="Text Placeholder 24">
            <a:extLst>
              <a:ext uri="{FF2B5EF4-FFF2-40B4-BE49-F238E27FC236}">
                <a16:creationId xmlns:a16="http://schemas.microsoft.com/office/drawing/2014/main" id="{637DF0FB-9617-6DF4-1559-7AA547F743AC}"/>
              </a:ext>
            </a:extLst>
          </p:cNvPr>
          <p:cNvSpPr txBox="1">
            <a:spLocks/>
          </p:cNvSpPr>
          <p:nvPr/>
        </p:nvSpPr>
        <p:spPr>
          <a:xfrm>
            <a:off x="804524" y="1650906"/>
            <a:ext cx="9594871" cy="33687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>
                <a:cs typeface="Arial"/>
              </a:rPr>
              <a:t>Έχει</a:t>
            </a:r>
            <a:r>
              <a:rPr lang="en-US">
                <a:cs typeface="Arial"/>
              </a:rPr>
              <a:t> αναπ</a:t>
            </a:r>
            <a:r>
              <a:rPr lang="en-US" err="1">
                <a:cs typeface="Arial"/>
              </a:rPr>
              <a:t>τυχθεί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μι</a:t>
            </a:r>
            <a:r>
              <a:rPr lang="en-US">
                <a:cs typeface="Arial"/>
              </a:rPr>
              <a:t>α π</a:t>
            </a:r>
            <a:r>
              <a:rPr lang="en-US" err="1">
                <a:cs typeface="Arial"/>
              </a:rPr>
              <a:t>λήρως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λειτουργική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εφ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ρμογή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σε</a:t>
            </a:r>
            <a:r>
              <a:rPr lang="en-US">
                <a:cs typeface="Arial"/>
              </a:rPr>
              <a:t> MATLAB.</a:t>
            </a:r>
          </a:p>
          <a:p>
            <a:r>
              <a:rPr lang="en-US">
                <a:cs typeface="Arial"/>
              </a:rPr>
              <a:t>Υπ</a:t>
            </a:r>
            <a:r>
              <a:rPr lang="en-US" err="1">
                <a:cs typeface="Arial"/>
              </a:rPr>
              <a:t>οστηρίζετ</a:t>
            </a:r>
            <a:r>
              <a:rPr lang="en-US">
                <a:cs typeface="Arial"/>
              </a:rPr>
              <a:t>αι η modular π</a:t>
            </a:r>
            <a:r>
              <a:rPr lang="en-US" err="1">
                <a:cs typeface="Arial"/>
              </a:rPr>
              <a:t>ροσέγγιση</a:t>
            </a:r>
            <a:r>
              <a:rPr lang="en-US">
                <a:cs typeface="Arial"/>
              </a:rPr>
              <a:t>.</a:t>
            </a:r>
          </a:p>
          <a:p>
            <a:r>
              <a:rPr lang="en-US" err="1">
                <a:cs typeface="Arial"/>
              </a:rPr>
              <a:t>Πρ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γμ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το</a:t>
            </a:r>
            <a:r>
              <a:rPr lang="en-US">
                <a:cs typeface="Arial"/>
              </a:rPr>
              <a:t>π</a:t>
            </a:r>
            <a:r>
              <a:rPr lang="en-US" err="1">
                <a:cs typeface="Arial"/>
              </a:rPr>
              <a:t>οιείτ</a:t>
            </a:r>
            <a:r>
              <a:rPr lang="en-US">
                <a:cs typeface="Arial"/>
              </a:rPr>
              <a:t>αι </a:t>
            </a:r>
            <a:r>
              <a:rPr lang="en-US" err="1">
                <a:cs typeface="Arial"/>
              </a:rPr>
              <a:t>έλεγχος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εγκυρότητ</a:t>
            </a:r>
            <a:r>
              <a:rPr lang="en-US">
                <a:cs typeface="Arial"/>
              </a:rPr>
              <a:t>ας </a:t>
            </a:r>
            <a:r>
              <a:rPr lang="en-US" err="1">
                <a:cs typeface="Arial"/>
              </a:rPr>
              <a:t>εισόδου</a:t>
            </a:r>
            <a:r>
              <a:rPr lang="en-US">
                <a:cs typeface="Arial"/>
              </a:rPr>
              <a:t>.</a:t>
            </a:r>
          </a:p>
          <a:p>
            <a:r>
              <a:rPr lang="en-US" err="1">
                <a:cs typeface="Arial"/>
              </a:rPr>
              <a:t>Εμφ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νίζοντ</a:t>
            </a:r>
            <a:r>
              <a:rPr lang="en-US">
                <a:cs typeface="Arial"/>
              </a:rPr>
              <a:t>αι </a:t>
            </a:r>
            <a:r>
              <a:rPr lang="en-US" err="1">
                <a:cs typeface="Arial"/>
              </a:rPr>
              <a:t>φιλικά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ρος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τον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χρήστη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μηνύμ</a:t>
            </a:r>
            <a:r>
              <a:rPr lang="en-US">
                <a:cs typeface="Arial"/>
              </a:rPr>
              <a:t>ατα.</a:t>
            </a:r>
          </a:p>
          <a:p>
            <a:r>
              <a:rPr lang="en-US" err="1">
                <a:cs typeface="Arial"/>
              </a:rPr>
              <a:t>Εξοικείωση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με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συν</a:t>
            </a:r>
            <a:r>
              <a:rPr lang="en-US">
                <a:cs typeface="Arial"/>
              </a:rPr>
              <a:t>α</a:t>
            </a:r>
            <a:r>
              <a:rPr lang="en-US" err="1">
                <a:cs typeface="Arial"/>
              </a:rPr>
              <a:t>ρτήσεις</a:t>
            </a:r>
            <a:r>
              <a:rPr lang="en-US">
                <a:cs typeface="Arial"/>
              </a:rPr>
              <a:t> και </a:t>
            </a:r>
            <a:r>
              <a:rPr lang="en-US" err="1">
                <a:cs typeface="Arial"/>
              </a:rPr>
              <a:t>το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ερι</a:t>
            </a:r>
            <a:r>
              <a:rPr lang="en-US">
                <a:cs typeface="Arial"/>
              </a:rPr>
              <a:t>β</a:t>
            </a:r>
            <a:r>
              <a:rPr lang="en-US" err="1">
                <a:cs typeface="Arial"/>
              </a:rPr>
              <a:t>άλλον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του</a:t>
            </a:r>
            <a:r>
              <a:rPr lang="en-US">
                <a:cs typeface="Arial"/>
              </a:rPr>
              <a:t> MATLAB.</a:t>
            </a:r>
          </a:p>
          <a:p>
            <a:r>
              <a:rPr lang="en-US" err="1">
                <a:cs typeface="Arial"/>
              </a:rPr>
              <a:t>Πολλές</a:t>
            </a:r>
            <a:r>
              <a:rPr lang="en-US">
                <a:cs typeface="Arial"/>
              </a:rPr>
              <a:t> π</a:t>
            </a:r>
            <a:r>
              <a:rPr lang="en-US" err="1">
                <a:cs typeface="Arial"/>
              </a:rPr>
              <a:t>ροο</a:t>
            </a:r>
            <a:r>
              <a:rPr lang="en-US">
                <a:cs typeface="Arial"/>
              </a:rPr>
              <a:t>π</a:t>
            </a:r>
            <a:r>
              <a:rPr lang="en-US" err="1">
                <a:cs typeface="Arial"/>
              </a:rPr>
              <a:t>τικές</a:t>
            </a:r>
            <a:r>
              <a:rPr lang="en-US">
                <a:cs typeface="Arial"/>
              </a:rPr>
              <a:t> β</a:t>
            </a:r>
            <a:r>
              <a:rPr lang="en-US" err="1">
                <a:cs typeface="Arial"/>
              </a:rPr>
              <a:t>ελτίωσης</a:t>
            </a:r>
            <a:r>
              <a:rPr lang="en-US">
                <a:cs typeface="Arial"/>
              </a:rPr>
              <a:t>.</a:t>
            </a: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793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0FB4AB-7EBB-ED7D-2267-A21053E48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684" y="2143668"/>
            <a:ext cx="5260784" cy="2571661"/>
          </a:xfrm>
        </p:spPr>
        <p:txBody>
          <a:bodyPr vert="horz" lIns="0" tIns="0" rIns="0" bIns="0" rtlCol="0" anchor="t">
            <a:normAutofit/>
          </a:bodyPr>
          <a:lstStyle/>
          <a:p>
            <a:pPr algn="ctr"/>
            <a:r>
              <a:rPr lang="en-US" altLang="zh-CN" err="1"/>
              <a:t>Ευχ</a:t>
            </a:r>
            <a:r>
              <a:rPr lang="en-US" altLang="zh-CN"/>
              <a:t>α</a:t>
            </a:r>
            <a:r>
              <a:rPr lang="en-US" altLang="zh-CN" err="1"/>
              <a:t>ριστώ</a:t>
            </a:r>
            <a:br>
              <a:rPr lang="en-US" altLang="zh-CN"/>
            </a:br>
            <a:r>
              <a:rPr lang="en-US" altLang="zh-CN"/>
              <a:t>π</a:t>
            </a:r>
            <a:r>
              <a:rPr lang="en-US" altLang="zh-CN" err="1"/>
              <a:t>ολύ</a:t>
            </a:r>
            <a:r>
              <a:rPr lang="en-US" altLang="zh-CN"/>
              <a:t> </a:t>
            </a:r>
            <a:r>
              <a:rPr lang="en-US" altLang="zh-CN" err="1"/>
              <a:t>γι</a:t>
            </a:r>
            <a:r>
              <a:rPr lang="en-US" altLang="zh-CN"/>
              <a:t>α </a:t>
            </a:r>
            <a:r>
              <a:rPr lang="en-US" altLang="zh-CN" err="1"/>
              <a:t>την</a:t>
            </a:r>
            <a:r>
              <a:rPr lang="en-US" altLang="zh-CN"/>
              <a:t> π</a:t>
            </a:r>
            <a:r>
              <a:rPr lang="en-US" altLang="zh-CN" err="1"/>
              <a:t>ροσοχή</a:t>
            </a:r>
            <a:r>
              <a:rPr lang="en-US" altLang="zh-CN"/>
              <a:t> σας!</a:t>
            </a:r>
            <a:endParaRPr lang="en-US">
              <a:ea typeface="Segoe UI Black"/>
            </a:endParaRPr>
          </a:p>
        </p:txBody>
      </p:sp>
    </p:spTree>
    <p:extLst>
      <p:ext uri="{BB962C8B-B14F-4D97-AF65-F5344CB8AC3E}">
        <p14:creationId xmlns:p14="http://schemas.microsoft.com/office/powerpoint/2010/main" val="660898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OP_001_Biz Presentation_Personal Budgeting_250210_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871CA"/>
      </a:accent1>
      <a:accent2>
        <a:srgbClr val="F6C94C"/>
      </a:accent2>
      <a:accent3>
        <a:srgbClr val="02C9CE"/>
      </a:accent3>
      <a:accent4>
        <a:srgbClr val="92D050"/>
      </a:accent4>
      <a:accent5>
        <a:srgbClr val="8E7EF0"/>
      </a:accent5>
      <a:accent6>
        <a:srgbClr val="D90909"/>
      </a:accent6>
      <a:hlink>
        <a:srgbClr val="ED861F"/>
      </a:hlink>
      <a:folHlink>
        <a:srgbClr val="979797"/>
      </a:folHlink>
    </a:clrScheme>
    <a:fontScheme name="Custom">
      <a:majorFont>
        <a:latin typeface="Segoe UI Black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333B44-FF7C-4DD4-AB3A-1FC68C05FF35}">
  <ds:schemaRefs>
    <ds:schemaRef ds:uri="21705155-b4ce-4c69-95dc-4fd6cb8c5571"/>
    <ds:schemaRef ds:uri="38de0ec0-4312-429b-9ba4-a6f7899b86f2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4AE86BAD-86C6-47EA-A0F9-642802C2FE2B}">
  <ds:schemaRefs>
    <ds:schemaRef ds:uri="21705155-b4ce-4c69-95dc-4fd6cb8c5571"/>
    <ds:schemaRef ds:uri="38de0ec0-4312-429b-9ba4-a6f7899b86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1DED828-D6B6-42DA-8DEE-DE8638CBB0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Custom</vt:lpstr>
      <vt:lpstr>Ανάπτυξη Επιστημονικής Αριθμομηχανής </vt:lpstr>
      <vt:lpstr>Agenda</vt:lpstr>
      <vt:lpstr>Εισαγωγή</vt:lpstr>
      <vt:lpstr>PowerPoint Presentation</vt:lpstr>
      <vt:lpstr>Στόχοι Πτυχιακής</vt:lpstr>
      <vt:lpstr>Επιλογή MATLAB</vt:lpstr>
      <vt:lpstr>PowerPoint Presentation</vt:lpstr>
      <vt:lpstr>Backend</vt:lpstr>
      <vt:lpstr>Modularity</vt:lpstr>
      <vt:lpstr>Graphical User Interface (GUI)</vt:lpstr>
      <vt:lpstr>Ανάλυση Και Δομή GUI</vt:lpstr>
      <vt:lpstr>Screenshots-Backend</vt:lpstr>
      <vt:lpstr>Screenshots-GUI</vt:lpstr>
      <vt:lpstr>Demos</vt:lpstr>
      <vt:lpstr>Demos</vt:lpstr>
      <vt:lpstr>Βελτιώσεις</vt:lpstr>
      <vt:lpstr>Συμπεράσματα</vt:lpstr>
      <vt:lpstr>Ευχαριστώ πολύ για την προσοχή σας!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30</cp:revision>
  <dcterms:created xsi:type="dcterms:W3CDTF">2025-05-25T11:29:33Z</dcterms:created>
  <dcterms:modified xsi:type="dcterms:W3CDTF">2025-06-01T11:13:13Z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</Properties>
</file>